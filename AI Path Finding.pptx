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402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jpeg"/><Relationship Id="rId9" Type="http://schemas.openxmlformats.org/officeDocument/2006/relationships/image" Target="../media/image-10-9.jpe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jpeg"/><Relationship Id="rId9" Type="http://schemas.openxmlformats.org/officeDocument/2006/relationships/image" Target="../media/image-13-9.jpe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image" Target="../media/image-15-7.jpg"/><Relationship Id="rId8" Type="http://schemas.openxmlformats.org/officeDocument/2006/relationships/image" Target="../media/image-15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4906" y="3434970"/>
            <a:ext cx="197418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Masters Team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2425148" y="2683771"/>
            <a:ext cx="4293704" cy="0"/>
          </a:xfrm>
          <a:custGeom>
            <a:avLst/>
            <a:gdLst/>
            <a:ahLst/>
            <a:cxnLst/>
            <a:rect l="l" t="t" r="r" b="b"/>
            <a:pathLst>
              <a:path w="4293704" h="0">
                <a:moveTo>
                  <a:pt x="0" y="0"/>
                </a:moveTo>
                <a:moveTo>
                  <a:pt x="0" y="0"/>
                </a:moveTo>
                <a:lnTo>
                  <a:pt x="4293704" y="0"/>
                </a:lnTo>
              </a:path>
            </a:pathLst>
          </a:custGeom>
          <a:noFill/>
          <a:ln w="9525">
            <a:solidFill>
              <a:srgbClr val="62400D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831385" y="1458111"/>
            <a:ext cx="7481230" cy="1143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456" b="1" spc="72" kern="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A* Pathfinding Algorithms Comparison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0" y="2713166"/>
            <a:ext cx="9144000" cy="4389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 Grid Navigation Analysis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03935" y="480073"/>
            <a:ext cx="3936130" cy="9509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032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266574" y="1767356"/>
            <a:ext cx="3335950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Overview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707833" y="1662200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099303" y="1781072"/>
            <a:ext cx="333595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Algorithms Implementation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541083" y="1662200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267052" y="2472359"/>
            <a:ext cx="3335471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Results and Analysis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07918" y="2353487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1190" y="540652"/>
            <a:ext cx="5221112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Overview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132360" y="1896218"/>
            <a:ext cx="5951436" cy="1351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project focuses on the A* pathfinding algorithm, using it as the main reference point for comparing other classic search methods (Dijkstra, Greedy Best-First, BFS, DFS) on 2D grid maps.
We provide both console and Tkinter GUI modes to run A* on different maps, visualize the resulting paths, and measure metrics such as path length, expanded nodes, and execution time.
Other algorithms are used mainly to highlight how A* combines optimality and efficiency, confirming that A* finds optimal paths on unweighted grids while often expanding fewer nodes than uninformed methods.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Pathfinding on 2D Grids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467" y="706954"/>
            <a:ext cx="3105066" cy="4140088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9467" y="706954"/>
            <a:ext cx="3105066" cy="4140088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3594480" y="3191791"/>
            <a:ext cx="724757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40" dirty="0"/>
          </a:p>
        </p:txBody>
      </p:sp>
      <p:sp>
        <p:nvSpPr>
          <p:cNvPr id="9" name="Text 2"/>
          <p:cNvSpPr/>
          <p:nvPr/>
        </p:nvSpPr>
        <p:spPr>
          <a:xfrm>
            <a:off x="3433566" y="1869765"/>
            <a:ext cx="724757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10" name="Text 3"/>
          <p:cNvSpPr/>
          <p:nvPr/>
        </p:nvSpPr>
        <p:spPr>
          <a:xfrm>
            <a:off x="4738044" y="1722535"/>
            <a:ext cx="724757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11" name="Text 4"/>
          <p:cNvSpPr/>
          <p:nvPr/>
        </p:nvSpPr>
        <p:spPr>
          <a:xfrm>
            <a:off x="4917108" y="3027091"/>
            <a:ext cx="724757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pic>
        <p:nvPicPr>
          <p:cNvPr id="12" name="Image 5" descr="https://oceandoc-ai.obs.ap-southeast-3.myhuaweicloud.com:443/image_1766483277684_ai8mce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044596" y="2304322"/>
            <a:ext cx="947929" cy="947929"/>
          </a:xfrm>
          <a:prstGeom prst="ellipse">
            <a:avLst/>
          </a:prstGeom>
        </p:spPr>
      </p:pic>
      <p:sp>
        <p:nvSpPr>
          <p:cNvPr id="13" name="Text 5"/>
          <p:cNvSpPr/>
          <p:nvPr/>
        </p:nvSpPr>
        <p:spPr>
          <a:xfrm>
            <a:off x="258693" y="93911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Grid-based pathfinding</a:t>
            </a:r>
            <a:endParaRPr lang="en-US" sz="1440" dirty="0"/>
          </a:p>
        </p:txBody>
      </p:sp>
      <p:sp>
        <p:nvSpPr>
          <p:cNvPr id="14" name="Text 6"/>
          <p:cNvSpPr/>
          <p:nvPr/>
        </p:nvSpPr>
        <p:spPr>
          <a:xfrm>
            <a:off x="253537" y="1370708"/>
            <a:ext cx="2838893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Finding optimal routes between start and goal cells on 2D grids with obstacles using four-directional movement.</a:t>
            </a:r>
            <a:endParaRPr lang="en-US" sz="1440" dirty="0"/>
          </a:p>
        </p:txBody>
      </p:sp>
      <p:sp>
        <p:nvSpPr>
          <p:cNvPr id="15" name="Text 7"/>
          <p:cNvSpPr/>
          <p:nvPr/>
        </p:nvSpPr>
        <p:spPr>
          <a:xfrm>
            <a:off x="6002866" y="939111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algorithms compared</a:t>
            </a:r>
            <a:endParaRPr lang="en-US" sz="1440" dirty="0"/>
          </a:p>
        </p:txBody>
      </p:sp>
      <p:sp>
        <p:nvSpPr>
          <p:cNvPr id="16" name="Text 8"/>
          <p:cNvSpPr/>
          <p:nvPr/>
        </p:nvSpPr>
        <p:spPr>
          <a:xfrm>
            <a:off x="6002866" y="1370686"/>
            <a:ext cx="286973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A*, Dijkstra, Greedy Best-First, BFS, and DFS algorithms evaluated for path optimality and efficiency.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258693" y="317116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Visualization approach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253537" y="3595443"/>
            <a:ext cx="28388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Tkinter GUI displays grids, paths, and performance metrics including path length, expanded nodes, and execution time.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6002866" y="3171139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Movement constraints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6002866" y="3595443"/>
            <a:ext cx="286973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Four-directional movement (up, down, left, right) with walls blocking paths and grid boundaries limiting travel.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Architecture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89857" y="1001727"/>
            <a:ext cx="8164286" cy="0"/>
          </a:xfrm>
          <a:custGeom>
            <a:avLst/>
            <a:gdLst/>
            <a:ahLst/>
            <a:cxnLst/>
            <a:rect l="l" t="t" r="r" b="b"/>
            <a:pathLst>
              <a:path w="8164286" h="0">
                <a:moveTo>
                  <a:pt x="0" y="0"/>
                </a:moveTo>
                <a:moveTo>
                  <a:pt x="0" y="0"/>
                </a:moveTo>
                <a:lnTo>
                  <a:pt x="8164286" y="0"/>
                </a:lnTo>
              </a:path>
            </a:pathLst>
          </a:custGeom>
          <a:noFill/>
          <a:ln w="19050">
            <a:solidFill>
              <a:srgbClr val="EC9F48"/>
            </a:solidFill>
            <a:prstDash val="solid"/>
            <a:headEnd type="none"/>
            <a:tailEnd type="none"/>
          </a:ln>
        </p:spPr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9416" y="768754"/>
            <a:ext cx="1301272" cy="539098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386" y="1366180"/>
            <a:ext cx="1917542" cy="3189051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528470" y="4041909"/>
            <a:ext cx="838796" cy="313151"/>
          </a:xfrm>
          <a:custGeom>
            <a:avLst/>
            <a:gdLst/>
            <a:ahLst/>
            <a:cxnLst/>
            <a:rect l="l" t="t" r="r" b="b"/>
            <a:pathLst>
              <a:path w="838796" h="313151">
                <a:moveTo>
                  <a:pt x="156575" y="0"/>
                </a:moveTo>
                <a:moveTo>
                  <a:pt x="156575" y="0"/>
                </a:moveTo>
                <a:lnTo>
                  <a:pt x="682221" y="0"/>
                </a:lnTo>
                <a:quadBezTo>
                  <a:pt x="838796" y="0"/>
                  <a:pt x="838796" y="156575"/>
                </a:quadBezTo>
                <a:lnTo>
                  <a:pt x="838796" y="156575"/>
                </a:lnTo>
                <a:quadBezTo>
                  <a:pt x="838796" y="313151"/>
                  <a:pt x="682221" y="313151"/>
                </a:quadBezTo>
                <a:lnTo>
                  <a:pt x="156575" y="313151"/>
                </a:lnTo>
                <a:quadBezTo>
                  <a:pt x="0" y="313151"/>
                  <a:pt x="0" y="156575"/>
                </a:quadBezTo>
                <a:lnTo>
                  <a:pt x="0" y="156575"/>
                </a:lnTo>
                <a:quadBezTo>
                  <a:pt x="0" y="0"/>
                  <a:pt x="156575" y="0"/>
                </a:quad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10" name="Text 3"/>
          <p:cNvSpPr/>
          <p:nvPr/>
        </p:nvSpPr>
        <p:spPr>
          <a:xfrm>
            <a:off x="625092" y="3942452"/>
            <a:ext cx="645553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11" name="Shape 4"/>
          <p:cNvSpPr/>
          <p:nvPr/>
        </p:nvSpPr>
        <p:spPr>
          <a:xfrm>
            <a:off x="574311" y="2295077"/>
            <a:ext cx="1800616" cy="0"/>
          </a:xfrm>
          <a:custGeom>
            <a:avLst/>
            <a:gdLst/>
            <a:ahLst/>
            <a:cxnLst/>
            <a:rect l="l" t="t" r="r" b="b"/>
            <a:pathLst>
              <a:path w="1800616" h="0">
                <a:moveTo>
                  <a:pt x="0" y="0"/>
                </a:moveTo>
                <a:moveTo>
                  <a:pt x="0" y="0"/>
                </a:moveTo>
                <a:lnTo>
                  <a:pt x="1800616" y="0"/>
                </a:lnTo>
              </a:path>
            </a:pathLst>
          </a:custGeom>
          <a:noFill/>
          <a:ln w="9525">
            <a:solidFill>
              <a:srgbClr val="EC9F48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5"/>
          <p:cNvSpPr/>
          <p:nvPr/>
        </p:nvSpPr>
        <p:spPr>
          <a:xfrm>
            <a:off x="2561282" y="1366180"/>
            <a:ext cx="1917542" cy="3189051"/>
          </a:xfrm>
          <a:custGeom>
            <a:avLst/>
            <a:gdLst/>
            <a:ahLst/>
            <a:cxnLst/>
            <a:rect l="l" t="t" r="r" b="b"/>
            <a:pathLst>
              <a:path w="1917542" h="3189051">
                <a:moveTo>
                  <a:pt x="137206" y="0"/>
                </a:moveTo>
                <a:moveTo>
                  <a:pt x="137206" y="0"/>
                </a:moveTo>
                <a:lnTo>
                  <a:pt x="1780335" y="0"/>
                </a:lnTo>
                <a:quadBezTo>
                  <a:pt x="1917542" y="0"/>
                  <a:pt x="1917542" y="153991"/>
                </a:quadBezTo>
                <a:lnTo>
                  <a:pt x="1917542" y="3035060"/>
                </a:lnTo>
                <a:quadBezTo>
                  <a:pt x="1917542" y="3189051"/>
                  <a:pt x="1780335" y="3189051"/>
                </a:quadBezTo>
                <a:lnTo>
                  <a:pt x="137206" y="3189051"/>
                </a:lnTo>
                <a:quadBezTo>
                  <a:pt x="0" y="3189051"/>
                  <a:pt x="0" y="3035060"/>
                </a:quadBezTo>
                <a:lnTo>
                  <a:pt x="0" y="153991"/>
                </a:lnTo>
                <a:quadBezTo>
                  <a:pt x="0" y="0"/>
                  <a:pt x="137206" y="0"/>
                </a:quadBezTo>
                <a:close/>
              </a:path>
            </a:pathLst>
          </a:custGeom>
          <a:solidFill>
            <a:srgbClr val="EC9F48"/>
          </a:solidFill>
          <a:ln w="9525">
            <a:solidFill>
              <a:srgbClr val="EC9F48">
                <a:alpha val="45882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2632365" y="4041909"/>
            <a:ext cx="838796" cy="313151"/>
          </a:xfrm>
          <a:custGeom>
            <a:avLst/>
            <a:gdLst/>
            <a:ahLst/>
            <a:cxnLst/>
            <a:rect l="l" t="t" r="r" b="b"/>
            <a:pathLst>
              <a:path w="838796" h="313151">
                <a:moveTo>
                  <a:pt x="156575" y="0"/>
                </a:moveTo>
                <a:moveTo>
                  <a:pt x="156575" y="0"/>
                </a:moveTo>
                <a:lnTo>
                  <a:pt x="682221" y="0"/>
                </a:lnTo>
                <a:quadBezTo>
                  <a:pt x="838796" y="0"/>
                  <a:pt x="838796" y="156575"/>
                </a:quadBezTo>
                <a:lnTo>
                  <a:pt x="838796" y="156575"/>
                </a:lnTo>
                <a:quadBezTo>
                  <a:pt x="838796" y="313151"/>
                  <a:pt x="682221" y="313151"/>
                </a:quadBezTo>
                <a:lnTo>
                  <a:pt x="156575" y="313151"/>
                </a:lnTo>
                <a:quadBezTo>
                  <a:pt x="0" y="313151"/>
                  <a:pt x="0" y="156575"/>
                </a:quadBezTo>
                <a:lnTo>
                  <a:pt x="0" y="156575"/>
                </a:lnTo>
                <a:quadBezTo>
                  <a:pt x="0" y="0"/>
                  <a:pt x="156575" y="0"/>
                </a:quadBezTo>
                <a:close/>
              </a:path>
            </a:pathLst>
          </a:custGeom>
          <a:solidFill>
            <a:srgbClr val="402800"/>
          </a:solidFill>
          <a:ln/>
        </p:spPr>
      </p:sp>
      <p:sp>
        <p:nvSpPr>
          <p:cNvPr id="14" name="Text 7"/>
          <p:cNvSpPr/>
          <p:nvPr/>
        </p:nvSpPr>
        <p:spPr>
          <a:xfrm>
            <a:off x="2728987" y="3942452"/>
            <a:ext cx="645553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Shape 8"/>
          <p:cNvSpPr/>
          <p:nvPr/>
        </p:nvSpPr>
        <p:spPr>
          <a:xfrm>
            <a:off x="2678207" y="2295077"/>
            <a:ext cx="1800616" cy="0"/>
          </a:xfrm>
          <a:custGeom>
            <a:avLst/>
            <a:gdLst/>
            <a:ahLst/>
            <a:cxnLst/>
            <a:rect l="l" t="t" r="r" b="b"/>
            <a:pathLst>
              <a:path w="1800616" h="0">
                <a:moveTo>
                  <a:pt x="0" y="0"/>
                </a:moveTo>
                <a:moveTo>
                  <a:pt x="0" y="0"/>
                </a:moveTo>
                <a:lnTo>
                  <a:pt x="1800616" y="0"/>
                </a:lnTo>
              </a:path>
            </a:pathLst>
          </a:custGeom>
          <a:noFill/>
          <a:ln w="9525">
            <a:solidFill>
              <a:srgbClr val="402800">
                <a:alpha val="29020"/>
              </a:srgbClr>
            </a:solidFill>
            <a:prstDash val="solid"/>
            <a:headEnd type="none"/>
            <a:tailEnd type="none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5177" y="1366180"/>
            <a:ext cx="1917542" cy="3189051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4736261" y="4041909"/>
            <a:ext cx="838796" cy="313151"/>
          </a:xfrm>
          <a:custGeom>
            <a:avLst/>
            <a:gdLst/>
            <a:ahLst/>
            <a:cxnLst/>
            <a:rect l="l" t="t" r="r" b="b"/>
            <a:pathLst>
              <a:path w="838796" h="313151">
                <a:moveTo>
                  <a:pt x="156575" y="0"/>
                </a:moveTo>
                <a:moveTo>
                  <a:pt x="156575" y="0"/>
                </a:moveTo>
                <a:lnTo>
                  <a:pt x="682221" y="0"/>
                </a:lnTo>
                <a:quadBezTo>
                  <a:pt x="838796" y="0"/>
                  <a:pt x="838796" y="156575"/>
                </a:quadBezTo>
                <a:lnTo>
                  <a:pt x="838796" y="156575"/>
                </a:lnTo>
                <a:quadBezTo>
                  <a:pt x="838796" y="313151"/>
                  <a:pt x="682221" y="313151"/>
                </a:quadBezTo>
                <a:lnTo>
                  <a:pt x="156575" y="313151"/>
                </a:lnTo>
                <a:quadBezTo>
                  <a:pt x="0" y="313151"/>
                  <a:pt x="0" y="156575"/>
                </a:quadBezTo>
                <a:lnTo>
                  <a:pt x="0" y="156575"/>
                </a:lnTo>
                <a:quadBezTo>
                  <a:pt x="0" y="0"/>
                  <a:pt x="156575" y="0"/>
                </a:quad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18" name="Text 10"/>
          <p:cNvSpPr/>
          <p:nvPr/>
        </p:nvSpPr>
        <p:spPr>
          <a:xfrm>
            <a:off x="4832883" y="3942452"/>
            <a:ext cx="645553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9" name="Shape 11"/>
          <p:cNvSpPr/>
          <p:nvPr/>
        </p:nvSpPr>
        <p:spPr>
          <a:xfrm>
            <a:off x="4782102" y="2295077"/>
            <a:ext cx="1800616" cy="0"/>
          </a:xfrm>
          <a:custGeom>
            <a:avLst/>
            <a:gdLst/>
            <a:ahLst/>
            <a:cxnLst/>
            <a:rect l="l" t="t" r="r" b="b"/>
            <a:pathLst>
              <a:path w="1800616" h="0">
                <a:moveTo>
                  <a:pt x="0" y="0"/>
                </a:moveTo>
                <a:moveTo>
                  <a:pt x="0" y="0"/>
                </a:moveTo>
                <a:lnTo>
                  <a:pt x="1800616" y="0"/>
                </a:lnTo>
              </a:path>
            </a:pathLst>
          </a:custGeom>
          <a:noFill/>
          <a:ln w="9525">
            <a:solidFill>
              <a:srgbClr val="EC9F48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9072" y="1366180"/>
            <a:ext cx="1917542" cy="3189051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6840156" y="4041909"/>
            <a:ext cx="838796" cy="313151"/>
          </a:xfrm>
          <a:custGeom>
            <a:avLst/>
            <a:gdLst/>
            <a:ahLst/>
            <a:cxnLst/>
            <a:rect l="l" t="t" r="r" b="b"/>
            <a:pathLst>
              <a:path w="838796" h="313151">
                <a:moveTo>
                  <a:pt x="156575" y="0"/>
                </a:moveTo>
                <a:moveTo>
                  <a:pt x="156575" y="0"/>
                </a:moveTo>
                <a:lnTo>
                  <a:pt x="682221" y="0"/>
                </a:lnTo>
                <a:quadBezTo>
                  <a:pt x="838796" y="0"/>
                  <a:pt x="838796" y="156575"/>
                </a:quadBezTo>
                <a:lnTo>
                  <a:pt x="838796" y="156575"/>
                </a:lnTo>
                <a:quadBezTo>
                  <a:pt x="838796" y="313151"/>
                  <a:pt x="682221" y="313151"/>
                </a:quadBezTo>
                <a:lnTo>
                  <a:pt x="156575" y="313151"/>
                </a:lnTo>
                <a:quadBezTo>
                  <a:pt x="0" y="313151"/>
                  <a:pt x="0" y="156575"/>
                </a:quadBezTo>
                <a:lnTo>
                  <a:pt x="0" y="156575"/>
                </a:lnTo>
                <a:quadBezTo>
                  <a:pt x="0" y="0"/>
                  <a:pt x="156575" y="0"/>
                </a:quad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22" name="Text 13"/>
          <p:cNvSpPr/>
          <p:nvPr/>
        </p:nvSpPr>
        <p:spPr>
          <a:xfrm>
            <a:off x="6936778" y="3942452"/>
            <a:ext cx="645553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23" name="Shape 14"/>
          <p:cNvSpPr/>
          <p:nvPr/>
        </p:nvSpPr>
        <p:spPr>
          <a:xfrm>
            <a:off x="6885997" y="2295077"/>
            <a:ext cx="1800616" cy="0"/>
          </a:xfrm>
          <a:custGeom>
            <a:avLst/>
            <a:gdLst/>
            <a:ahLst/>
            <a:cxnLst/>
            <a:rect l="l" t="t" r="r" b="b"/>
            <a:pathLst>
              <a:path w="1800616" h="0">
                <a:moveTo>
                  <a:pt x="0" y="0"/>
                </a:moveTo>
                <a:moveTo>
                  <a:pt x="0" y="0"/>
                </a:moveTo>
                <a:lnTo>
                  <a:pt x="1800616" y="0"/>
                </a:lnTo>
              </a:path>
            </a:pathLst>
          </a:custGeom>
          <a:noFill/>
          <a:ln w="9525">
            <a:solidFill>
              <a:srgbClr val="EC9F48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Text 15"/>
          <p:cNvSpPr/>
          <p:nvPr/>
        </p:nvSpPr>
        <p:spPr>
          <a:xfrm>
            <a:off x="455517" y="1622847"/>
            <a:ext cx="1919411" cy="53472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Structure</a:t>
            </a:r>
            <a:endParaRPr lang="en-US" sz="1440" dirty="0"/>
          </a:p>
        </p:txBody>
      </p:sp>
      <p:sp>
        <p:nvSpPr>
          <p:cNvPr id="25" name="Text 16"/>
          <p:cNvSpPr/>
          <p:nvPr/>
        </p:nvSpPr>
        <p:spPr>
          <a:xfrm>
            <a:off x="457386" y="2294733"/>
            <a:ext cx="1917542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 components include main.py, gui.py, algorithms.py, grid.py, and heuristics.py working together for pathfinding visualization.</a:t>
            </a:r>
            <a:endParaRPr lang="en-US" sz="1440" dirty="0"/>
          </a:p>
        </p:txBody>
      </p:sp>
      <p:sp>
        <p:nvSpPr>
          <p:cNvPr id="26" name="Text 17"/>
          <p:cNvSpPr/>
          <p:nvPr/>
        </p:nvSpPr>
        <p:spPr>
          <a:xfrm>
            <a:off x="2561282" y="1622847"/>
            <a:ext cx="1917542" cy="53472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Component Integration</a:t>
            </a:r>
            <a:endParaRPr lang="en-US" sz="1440" dirty="0"/>
          </a:p>
        </p:txBody>
      </p:sp>
      <p:sp>
        <p:nvSpPr>
          <p:cNvPr id="27" name="Text 18"/>
          <p:cNvSpPr/>
          <p:nvPr/>
        </p:nvSpPr>
        <p:spPr>
          <a:xfrm>
            <a:off x="2561282" y="2294733"/>
            <a:ext cx="1917542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GUI calls algorithms and grid modules to display pathfinding results with clear separation of concerns.</a:t>
            </a:r>
            <a:endParaRPr lang="en-US" sz="1440" dirty="0"/>
          </a:p>
        </p:txBody>
      </p:sp>
      <p:sp>
        <p:nvSpPr>
          <p:cNvPr id="28" name="Text 19"/>
          <p:cNvSpPr/>
          <p:nvPr/>
        </p:nvSpPr>
        <p:spPr>
          <a:xfrm>
            <a:off x="4665177" y="1622847"/>
            <a:ext cx="1917542" cy="53472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Execution Flow</a:t>
            </a:r>
            <a:endParaRPr lang="en-US" sz="1440" dirty="0"/>
          </a:p>
        </p:txBody>
      </p:sp>
      <p:sp>
        <p:nvSpPr>
          <p:cNvPr id="29" name="Text 20"/>
          <p:cNvSpPr/>
          <p:nvPr/>
        </p:nvSpPr>
        <p:spPr>
          <a:xfrm>
            <a:off x="4665177" y="2294733"/>
            <a:ext cx="1917542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selects map and algorithm, system processes request, visualizes results with metrics in the interface.</a:t>
            </a:r>
            <a:endParaRPr lang="en-US" sz="1440" dirty="0"/>
          </a:p>
        </p:txBody>
      </p:sp>
      <p:sp>
        <p:nvSpPr>
          <p:cNvPr id="30" name="Text 21"/>
          <p:cNvSpPr/>
          <p:nvPr/>
        </p:nvSpPr>
        <p:spPr>
          <a:xfrm>
            <a:off x="6769072" y="1622847"/>
            <a:ext cx="1917542" cy="53472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Management</a:t>
            </a:r>
            <a:endParaRPr lang="en-US" sz="1440" dirty="0"/>
          </a:p>
        </p:txBody>
      </p:sp>
      <p:sp>
        <p:nvSpPr>
          <p:cNvPr id="31" name="Text 22"/>
          <p:cNvSpPr/>
          <p:nvPr/>
        </p:nvSpPr>
        <p:spPr>
          <a:xfrm>
            <a:off x="6769072" y="2294733"/>
            <a:ext cx="1917542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Grid representation handles walls, paths, start/goal positions while algorithms process navigation data.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GUI Features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410349" y="2866375"/>
            <a:ext cx="2197652" cy="0"/>
          </a:xfrm>
          <a:custGeom>
            <a:avLst/>
            <a:gdLst/>
            <a:ahLst/>
            <a:cxnLst/>
            <a:rect l="l" t="t" r="r" b="b"/>
            <a:pathLst>
              <a:path w="2197652" h="0">
                <a:moveTo>
                  <a:pt x="0" y="0"/>
                </a:moveTo>
                <a:moveTo>
                  <a:pt x="0" y="0"/>
                </a:moveTo>
                <a:quadBezTo>
                  <a:pt x="1098826" y="0"/>
                  <a:pt x="2197652" y="0"/>
                </a:quadBezTo>
              </a:path>
            </a:pathLst>
          </a:custGeom>
          <a:noFill/>
          <a:ln w="19300">
            <a:solidFill>
              <a:srgbClr val="EC9F48">
                <a:alpha val="34902"/>
              </a:srgbClr>
            </a:solidFill>
            <a:prstDash val="solid"/>
            <a:headEnd type="none"/>
            <a:tailEnd type="arrow"/>
          </a:ln>
        </p:spPr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364" y="1065630"/>
            <a:ext cx="3818508" cy="1731083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723" y="1771434"/>
            <a:ext cx="185283" cy="483053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31410" y="1229208"/>
            <a:ext cx="2630528" cy="54409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Map Selection</a:t>
            </a:r>
            <a:endParaRPr lang="en-US" sz="1440" dirty="0"/>
          </a:p>
        </p:txBody>
      </p:sp>
      <p:sp>
        <p:nvSpPr>
          <p:cNvPr id="10" name="Text 3"/>
          <p:cNvSpPr/>
          <p:nvPr/>
        </p:nvSpPr>
        <p:spPr>
          <a:xfrm>
            <a:off x="531410" y="1677694"/>
            <a:ext cx="2624925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Choose from various predefined maps including simple grids, mazes, and special demonstration scenarios.</a:t>
            </a:r>
            <a:endParaRPr lang="en-US" sz="144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364" y="2978189"/>
            <a:ext cx="3818508" cy="1731083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723" y="3520415"/>
            <a:ext cx="185283" cy="483053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531410" y="2996073"/>
            <a:ext cx="2630528" cy="52434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Algorithm Selection</a:t>
            </a:r>
            <a:endParaRPr lang="en-US" sz="1440" dirty="0"/>
          </a:p>
        </p:txBody>
      </p:sp>
      <p:sp>
        <p:nvSpPr>
          <p:cNvPr id="14" name="Text 5"/>
          <p:cNvSpPr/>
          <p:nvPr/>
        </p:nvSpPr>
        <p:spPr>
          <a:xfrm>
            <a:off x="531410" y="3439334"/>
            <a:ext cx="2624925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between A*, Dijkstra, Greedy Best-First, BFS, or DFS algorithms for pathfinding comparison.</a:t>
            </a:r>
            <a:endParaRPr lang="en-US" sz="144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4997128" y="1065630"/>
            <a:ext cx="3818508" cy="1731083"/>
          </a:xfrm>
          <a:prstGeom prst="rect">
            <a:avLst/>
          </a:prstGeom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8722995" y="1813587"/>
            <a:ext cx="185283" cy="483053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5964038" y="1229208"/>
            <a:ext cx="2630528" cy="54222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Grid Visualization</a:t>
            </a:r>
            <a:endParaRPr lang="en-US" sz="1440" dirty="0"/>
          </a:p>
        </p:txBody>
      </p:sp>
      <p:sp>
        <p:nvSpPr>
          <p:cNvPr id="18" name="Text 7"/>
          <p:cNvSpPr/>
          <p:nvPr/>
        </p:nvSpPr>
        <p:spPr>
          <a:xfrm>
            <a:off x="5964038" y="1677694"/>
            <a:ext cx="2630528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Clear display of walls, start and goal positions with distinctive path overlay when solution exists.</a:t>
            </a:r>
            <a:endParaRPr lang="en-US" sz="1440" dirty="0"/>
          </a:p>
        </p:txBody>
      </p:sp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4997128" y="2978189"/>
            <a:ext cx="3818508" cy="1731083"/>
          </a:xfrm>
          <a:prstGeom prst="rect">
            <a:avLst/>
          </a:prstGeom>
        </p:spPr>
      </p:pic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8722995" y="3478262"/>
            <a:ext cx="185283" cy="483053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5964038" y="2978189"/>
            <a:ext cx="2630528" cy="55520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Metrics Panel</a:t>
            </a:r>
            <a:endParaRPr lang="en-US" sz="1440" dirty="0"/>
          </a:p>
        </p:txBody>
      </p:sp>
      <p:sp>
        <p:nvSpPr>
          <p:cNvPr id="22" name="Text 9"/>
          <p:cNvSpPr/>
          <p:nvPr/>
        </p:nvSpPr>
        <p:spPr>
          <a:xfrm>
            <a:off x="5964038" y="3439334"/>
            <a:ext cx="2630528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Shows path status, length, expanded nodes count and execution time for performance analysis.</a:t>
            </a:r>
            <a:endParaRPr lang="en-US" sz="1440" dirty="0"/>
          </a:p>
        </p:txBody>
      </p:sp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56270" y="2499033"/>
            <a:ext cx="734683" cy="734683"/>
          </a:xfrm>
          <a:prstGeom prst="rect">
            <a:avLst/>
          </a:prstGeom>
        </p:spPr>
      </p:pic>
      <p:pic>
        <p:nvPicPr>
          <p:cNvPr id="24" name="Image 12" descr="https://oceandoc-ai.obs.ap-southeast-3.myhuaweicloud.com/176648315678230/88ad3b29-a4ef-48ac-81c5-a9ad953a8723/1766483421372/pic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61938" y="22453"/>
            <a:ext cx="6031504" cy="5121047"/>
          </a:xfrm>
          <a:prstGeom prst="rect">
            <a:avLst/>
          </a:prstGeom>
        </p:spPr>
      </p:pic>
      <p:sp>
        <p:nvSpPr>
          <p:cNvPr id="25" name="Shape 10"/>
          <p:cNvSpPr/>
          <p:nvPr/>
        </p:nvSpPr>
        <p:spPr>
          <a:xfrm>
            <a:off x="2748148" y="300794"/>
            <a:ext cx="1601011" cy="1263245"/>
          </a:xfrm>
          <a:custGeom>
            <a:avLst/>
            <a:gdLst/>
            <a:ahLst/>
            <a:cxnLst/>
            <a:rect l="l" t="t" r="r" b="b"/>
            <a:pathLst>
              <a:path w="1601011" h="1263245">
                <a:moveTo>
                  <a:pt x="0" y="1263245"/>
                </a:moveTo>
                <a:moveTo>
                  <a:pt x="0" y="1263245"/>
                </a:moveTo>
                <a:lnTo>
                  <a:pt x="1601011" y="0"/>
                </a:lnTo>
              </a:path>
            </a:pathLst>
          </a:custGeom>
          <a:noFill/>
          <a:ln w="19050">
            <a:solidFill>
              <a:srgbClr val="FF1E02"/>
            </a:solidFill>
            <a:prstDash val="solid"/>
            <a:headEnd type="none"/>
            <a:tailEnd type="arrow"/>
          </a:ln>
        </p:spPr>
      </p:sp>
      <p:sp>
        <p:nvSpPr>
          <p:cNvPr id="26" name="Shape 11"/>
          <p:cNvSpPr/>
          <p:nvPr/>
        </p:nvSpPr>
        <p:spPr>
          <a:xfrm>
            <a:off x="2984584" y="267017"/>
            <a:ext cx="2661596" cy="2843989"/>
          </a:xfrm>
          <a:custGeom>
            <a:avLst/>
            <a:gdLst/>
            <a:ahLst/>
            <a:cxnLst/>
            <a:rect l="l" t="t" r="r" b="b"/>
            <a:pathLst>
              <a:path w="2661596" h="2843989">
                <a:moveTo>
                  <a:pt x="0" y="2843989"/>
                </a:moveTo>
                <a:moveTo>
                  <a:pt x="0" y="2843989"/>
                </a:moveTo>
                <a:lnTo>
                  <a:pt x="2661596" y="0"/>
                </a:lnTo>
              </a:path>
            </a:pathLst>
          </a:custGeom>
          <a:noFill/>
          <a:ln w="19050">
            <a:solidFill>
              <a:srgbClr val="FF1E02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GUI Features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410349" y="2866375"/>
            <a:ext cx="2197652" cy="0"/>
          </a:xfrm>
          <a:custGeom>
            <a:avLst/>
            <a:gdLst/>
            <a:ahLst/>
            <a:cxnLst/>
            <a:rect l="l" t="t" r="r" b="b"/>
            <a:pathLst>
              <a:path w="2197652" h="0">
                <a:moveTo>
                  <a:pt x="0" y="0"/>
                </a:moveTo>
                <a:moveTo>
                  <a:pt x="0" y="0"/>
                </a:moveTo>
                <a:quadBezTo>
                  <a:pt x="1098826" y="0"/>
                  <a:pt x="2197652" y="0"/>
                </a:quadBezTo>
              </a:path>
            </a:pathLst>
          </a:custGeom>
          <a:noFill/>
          <a:ln w="19300">
            <a:solidFill>
              <a:srgbClr val="EC9F48">
                <a:alpha val="34902"/>
              </a:srgbClr>
            </a:solidFill>
            <a:prstDash val="solid"/>
            <a:headEnd type="none"/>
            <a:tailEnd type="arrow"/>
          </a:ln>
        </p:spPr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364" y="1065630"/>
            <a:ext cx="3818508" cy="1731083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723" y="1771434"/>
            <a:ext cx="185283" cy="483053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31410" y="1229208"/>
            <a:ext cx="2630528" cy="54409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Map Selection</a:t>
            </a:r>
            <a:endParaRPr lang="en-US" sz="1440" dirty="0"/>
          </a:p>
        </p:txBody>
      </p:sp>
      <p:sp>
        <p:nvSpPr>
          <p:cNvPr id="10" name="Text 3"/>
          <p:cNvSpPr/>
          <p:nvPr/>
        </p:nvSpPr>
        <p:spPr>
          <a:xfrm>
            <a:off x="531410" y="1677694"/>
            <a:ext cx="2624925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Choose from various predefined maps including simple grids, mazes, and special demonstration scenarios.</a:t>
            </a:r>
            <a:endParaRPr lang="en-US" sz="144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364" y="2978189"/>
            <a:ext cx="3818508" cy="1731083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723" y="3520415"/>
            <a:ext cx="185283" cy="483053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531410" y="2996073"/>
            <a:ext cx="2630528" cy="52434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Algorithm Selection</a:t>
            </a:r>
            <a:endParaRPr lang="en-US" sz="1440" dirty="0"/>
          </a:p>
        </p:txBody>
      </p:sp>
      <p:sp>
        <p:nvSpPr>
          <p:cNvPr id="14" name="Text 5"/>
          <p:cNvSpPr/>
          <p:nvPr/>
        </p:nvSpPr>
        <p:spPr>
          <a:xfrm>
            <a:off x="531410" y="3439334"/>
            <a:ext cx="2624925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between A*, Dijkstra, Greedy Best-First, BFS, or DFS algorithms for pathfinding comparison.</a:t>
            </a:r>
            <a:endParaRPr lang="en-US" sz="144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4997128" y="1065630"/>
            <a:ext cx="3818508" cy="1731083"/>
          </a:xfrm>
          <a:prstGeom prst="rect">
            <a:avLst/>
          </a:prstGeom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8722995" y="1813587"/>
            <a:ext cx="185283" cy="483053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5964038" y="1229208"/>
            <a:ext cx="2630528" cy="54222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Grid Visualization</a:t>
            </a:r>
            <a:endParaRPr lang="en-US" sz="1440" dirty="0"/>
          </a:p>
        </p:txBody>
      </p:sp>
      <p:sp>
        <p:nvSpPr>
          <p:cNvPr id="18" name="Text 7"/>
          <p:cNvSpPr/>
          <p:nvPr/>
        </p:nvSpPr>
        <p:spPr>
          <a:xfrm>
            <a:off x="5964038" y="1677694"/>
            <a:ext cx="2630528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Clear display of walls, start and goal positions with distinctive path overlay when solution exists.</a:t>
            </a:r>
            <a:endParaRPr lang="en-US" sz="1440" dirty="0"/>
          </a:p>
        </p:txBody>
      </p:sp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4997128" y="2978189"/>
            <a:ext cx="3818508" cy="1731083"/>
          </a:xfrm>
          <a:prstGeom prst="rect">
            <a:avLst/>
          </a:prstGeom>
        </p:spPr>
      </p:pic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8722995" y="3478262"/>
            <a:ext cx="185283" cy="483053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5964038" y="2978189"/>
            <a:ext cx="2630528" cy="55520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Metrics Panel</a:t>
            </a:r>
            <a:endParaRPr lang="en-US" sz="1440" dirty="0"/>
          </a:p>
        </p:txBody>
      </p:sp>
      <p:sp>
        <p:nvSpPr>
          <p:cNvPr id="22" name="Text 9"/>
          <p:cNvSpPr/>
          <p:nvPr/>
        </p:nvSpPr>
        <p:spPr>
          <a:xfrm>
            <a:off x="5964038" y="3439334"/>
            <a:ext cx="2630528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Shows path status, length, expanded nodes count and execution time for performance analysis.</a:t>
            </a:r>
            <a:endParaRPr lang="en-US" sz="1440" dirty="0"/>
          </a:p>
        </p:txBody>
      </p:sp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56270" y="2499033"/>
            <a:ext cx="734683" cy="734683"/>
          </a:xfrm>
          <a:prstGeom prst="rect">
            <a:avLst/>
          </a:prstGeom>
        </p:spPr>
      </p:pic>
      <p:pic>
        <p:nvPicPr>
          <p:cNvPr id="24" name="Image 12" descr="https://oceandoc-ai.obs.ap-southeast-3.myhuaweicloud.com/176648315678230/88ad3b29-a4ef-48ac-81c5-a9ad953a8723/1766483421372/pic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6031504" cy="5121047"/>
          </a:xfrm>
          <a:prstGeom prst="rect">
            <a:avLst/>
          </a:prstGeom>
        </p:spPr>
      </p:pic>
      <p:sp>
        <p:nvSpPr>
          <p:cNvPr id="25" name="Shape 10"/>
          <p:cNvSpPr/>
          <p:nvPr/>
        </p:nvSpPr>
        <p:spPr>
          <a:xfrm>
            <a:off x="3639850" y="1507808"/>
            <a:ext cx="2891277" cy="162128"/>
          </a:xfrm>
          <a:custGeom>
            <a:avLst/>
            <a:gdLst/>
            <a:ahLst/>
            <a:cxnLst/>
            <a:rect l="l" t="t" r="r" b="b"/>
            <a:pathLst>
              <a:path w="2891277" h="162128">
                <a:moveTo>
                  <a:pt x="2891277" y="0"/>
                </a:moveTo>
                <a:moveTo>
                  <a:pt x="2891277" y="0"/>
                </a:moveTo>
                <a:lnTo>
                  <a:pt x="0" y="162128"/>
                </a:lnTo>
              </a:path>
            </a:pathLst>
          </a:custGeom>
          <a:noFill/>
          <a:ln w="19050">
            <a:solidFill>
              <a:srgbClr val="FF1E02"/>
            </a:solidFill>
            <a:prstDash val="solid"/>
            <a:headEnd type="none"/>
            <a:tailEnd type="arrow"/>
          </a:ln>
        </p:spPr>
      </p:sp>
      <p:sp>
        <p:nvSpPr>
          <p:cNvPr id="26" name="Shape 11"/>
          <p:cNvSpPr/>
          <p:nvPr/>
        </p:nvSpPr>
        <p:spPr>
          <a:xfrm>
            <a:off x="5112510" y="3000734"/>
            <a:ext cx="1188936" cy="337766"/>
          </a:xfrm>
          <a:custGeom>
            <a:avLst/>
            <a:gdLst/>
            <a:ahLst/>
            <a:cxnLst/>
            <a:rect l="l" t="t" r="r" b="b"/>
            <a:pathLst>
              <a:path w="1188936" h="337766">
                <a:moveTo>
                  <a:pt x="1188936" y="337766"/>
                </a:moveTo>
                <a:moveTo>
                  <a:pt x="1188936" y="33776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FF1E02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Algorithms Implementation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A* and Dijkstra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39" y="1306072"/>
            <a:ext cx="8922252" cy="1895978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444122" y="1219329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8" name="Text 2"/>
          <p:cNvSpPr/>
          <p:nvPr/>
        </p:nvSpPr>
        <p:spPr>
          <a:xfrm>
            <a:off x="444122" y="1118849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9" name="Shape 3"/>
          <p:cNvSpPr/>
          <p:nvPr/>
        </p:nvSpPr>
        <p:spPr>
          <a:xfrm>
            <a:off x="1770341" y="3294391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CD9B63"/>
          </a:solidFill>
          <a:ln/>
        </p:spPr>
      </p:sp>
      <p:sp>
        <p:nvSpPr>
          <p:cNvPr id="10" name="Shape 4"/>
          <p:cNvSpPr/>
          <p:nvPr/>
        </p:nvSpPr>
        <p:spPr>
          <a:xfrm>
            <a:off x="3779623" y="1015203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EC9F48"/>
          </a:solidFill>
          <a:ln/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524621" y="1690310"/>
            <a:ext cx="2493292" cy="42050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779623" y="914723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3" name="Shape 6"/>
          <p:cNvSpPr/>
          <p:nvPr/>
        </p:nvSpPr>
        <p:spPr>
          <a:xfrm>
            <a:off x="5604416" y="3020728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CD9B63"/>
          </a:solidFill>
          <a:ln/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-910284" y="1803510"/>
            <a:ext cx="2672235" cy="42050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770341" y="3193911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16" name="Text 8"/>
          <p:cNvSpPr/>
          <p:nvPr/>
        </p:nvSpPr>
        <p:spPr>
          <a:xfrm>
            <a:off x="5613560" y="2929392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4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735766" y="3923167"/>
            <a:ext cx="1831405" cy="389174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743577" y="3732803"/>
            <a:ext cx="1831405" cy="38917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76986" y="1520647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A* Algorithm</a:t>
            </a:r>
            <a:endParaRPr lang="en-US" sz="1440" dirty="0"/>
          </a:p>
        </p:txBody>
      </p:sp>
      <p:sp>
        <p:nvSpPr>
          <p:cNvPr id="20" name="Text 10"/>
          <p:cNvSpPr/>
          <p:nvPr/>
        </p:nvSpPr>
        <p:spPr>
          <a:xfrm>
            <a:off x="576870" y="1932592"/>
            <a:ext cx="2958288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Combines g(n) + h(n), uses Manhattan heuristic, optimal on unweighted grids.</a:t>
            </a:r>
            <a:endParaRPr lang="en-US" sz="1440" dirty="0"/>
          </a:p>
        </p:txBody>
      </p:sp>
      <p:sp>
        <p:nvSpPr>
          <p:cNvPr id="21" name="Text 11"/>
          <p:cNvSpPr/>
          <p:nvPr/>
        </p:nvSpPr>
        <p:spPr>
          <a:xfrm>
            <a:off x="1767535" y="3613709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Dijkstra Algorithm</a:t>
            </a:r>
            <a:endParaRPr lang="en-US" sz="1440" dirty="0"/>
          </a:p>
        </p:txBody>
      </p:sp>
      <p:sp>
        <p:nvSpPr>
          <p:cNvPr id="22" name="Text 12"/>
          <p:cNvSpPr/>
          <p:nvPr/>
        </p:nvSpPr>
        <p:spPr>
          <a:xfrm>
            <a:off x="1748333" y="4036162"/>
            <a:ext cx="2958084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Uniform-cost search approach, guarantees optimal paths, complete algorithm.</a:t>
            </a:r>
            <a:endParaRPr lang="en-US" sz="1440" dirty="0"/>
          </a:p>
        </p:txBody>
      </p:sp>
      <p:sp>
        <p:nvSpPr>
          <p:cNvPr id="23" name="Text 13"/>
          <p:cNvSpPr/>
          <p:nvPr/>
        </p:nvSpPr>
        <p:spPr>
          <a:xfrm>
            <a:off x="3902659" y="1311250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Differences</a:t>
            </a:r>
            <a:endParaRPr lang="en-US" sz="1440" dirty="0"/>
          </a:p>
        </p:txBody>
      </p:sp>
      <p:sp>
        <p:nvSpPr>
          <p:cNvPr id="24" name="Text 14"/>
          <p:cNvSpPr/>
          <p:nvPr/>
        </p:nvSpPr>
        <p:spPr>
          <a:xfrm>
            <a:off x="3902646" y="1722730"/>
            <a:ext cx="2958084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A* uses heuristics for efficiency, Dijkstra explores uniformly, both optimal on unweighted grids.</a:t>
            </a:r>
            <a:endParaRPr lang="en-US" sz="1440" dirty="0"/>
          </a:p>
        </p:txBody>
      </p:sp>
      <p:sp>
        <p:nvSpPr>
          <p:cNvPr id="25" name="Text 15"/>
          <p:cNvSpPr/>
          <p:nvPr/>
        </p:nvSpPr>
        <p:spPr>
          <a:xfrm>
            <a:off x="5773522" y="3395167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Comparison</a:t>
            </a:r>
            <a:endParaRPr lang="en-US" sz="1440" dirty="0"/>
          </a:p>
        </p:txBody>
      </p:sp>
      <p:sp>
        <p:nvSpPr>
          <p:cNvPr id="26" name="Text 16"/>
          <p:cNvSpPr/>
          <p:nvPr/>
        </p:nvSpPr>
        <p:spPr>
          <a:xfrm>
            <a:off x="5773740" y="3813048"/>
            <a:ext cx="2958084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A* typically expands fewer nodes than Dijkstra, both find identical paths in unweighted environments.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A* and Dijkstra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910284" y="1803510"/>
            <a:ext cx="2672235" cy="420501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35766" y="3923167"/>
            <a:ext cx="1831405" cy="389174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743577" y="3732803"/>
            <a:ext cx="1831405" cy="389174"/>
          </a:xfrm>
          <a:prstGeom prst="rect">
            <a:avLst/>
          </a:prstGeom>
        </p:spPr>
      </p:pic>
      <p:pic>
        <p:nvPicPr>
          <p:cNvPr id="9" name="Image 6" descr="https://oceandoc-ai.obs.ap-southeast-3.myhuaweicloud.com/176648315678230/afda732e-ad69-4945-8fee-4f3e83c1cae8/1766485731106/Dijkstrapic.jpe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677643"/>
            <a:ext cx="4572000" cy="4417827"/>
          </a:xfrm>
          <a:prstGeom prst="rect">
            <a:avLst/>
          </a:prstGeom>
        </p:spPr>
      </p:pic>
      <p:pic>
        <p:nvPicPr>
          <p:cNvPr id="10" name="Image 7" descr="https://oceandoc-ai.obs.ap-southeast-3.myhuaweicloud.com/176648315678230/cfd78a05-2396-4015-8764-734bb3b52e84/1766485794268/A_StarPic.jpe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77643"/>
            <a:ext cx="4578033" cy="44178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Greedy Best-First Search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260" y="2124096"/>
            <a:ext cx="196596" cy="196596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2861" y="2117238"/>
            <a:ext cx="210312" cy="21031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6944" y="2083863"/>
            <a:ext cx="277063" cy="277063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2350" y="2121810"/>
            <a:ext cx="201168" cy="201168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242713" y="1448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Heuristic-Only Search</a:t>
            </a:r>
            <a:endParaRPr lang="en-US" sz="1440" dirty="0"/>
          </a:p>
        </p:txBody>
      </p:sp>
      <p:sp>
        <p:nvSpPr>
          <p:cNvPr id="11" name="Text 2"/>
          <p:cNvSpPr/>
          <p:nvPr/>
        </p:nvSpPr>
        <p:spPr>
          <a:xfrm>
            <a:off x="372999" y="2170966"/>
            <a:ext cx="191619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Uses only h(n), ignoring path cost g(n), focusing exclusively on estimated distance to goal.</a:t>
            </a:r>
            <a:endParaRPr lang="en-US" sz="1440" dirty="0"/>
          </a:p>
        </p:txBody>
      </p:sp>
      <p:sp>
        <p:nvSpPr>
          <p:cNvPr id="12" name="Text 3"/>
          <p:cNvSpPr/>
          <p:nvPr/>
        </p:nvSpPr>
        <p:spPr>
          <a:xfrm>
            <a:off x="2490172" y="1448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 But Not Optimal</a:t>
            </a:r>
            <a:endParaRPr lang="en-US" sz="1440" dirty="0"/>
          </a:p>
        </p:txBody>
      </p:sp>
      <p:sp>
        <p:nvSpPr>
          <p:cNvPr id="13" name="Text 4"/>
          <p:cNvSpPr/>
          <p:nvPr/>
        </p:nvSpPr>
        <p:spPr>
          <a:xfrm>
            <a:off x="2731432" y="2222394"/>
            <a:ext cx="191619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Expands fewer nodes than A*, sacrificing guaranteed optimality for speed in pathfinding.</a:t>
            </a:r>
            <a:endParaRPr lang="en-US" sz="1440" dirty="0"/>
          </a:p>
        </p:txBody>
      </p:sp>
      <p:sp>
        <p:nvSpPr>
          <p:cNvPr id="14" name="Text 5"/>
          <p:cNvSpPr/>
          <p:nvPr/>
        </p:nvSpPr>
        <p:spPr>
          <a:xfrm>
            <a:off x="4647630" y="1448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Heuristic Options</a:t>
            </a:r>
            <a:endParaRPr lang="en-US" sz="1440" dirty="0"/>
          </a:p>
        </p:txBody>
      </p:sp>
      <p:sp>
        <p:nvSpPr>
          <p:cNvPr id="15" name="Text 6"/>
          <p:cNvSpPr/>
          <p:nvPr/>
        </p:nvSpPr>
        <p:spPr>
          <a:xfrm>
            <a:off x="4814934" y="2222394"/>
            <a:ext cx="191619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Supports both Manhattan and Euclidean distance calculations through GUI dropdown selection.</a:t>
            </a:r>
            <a:endParaRPr lang="en-US" sz="1440" dirty="0"/>
          </a:p>
        </p:txBody>
      </p:sp>
      <p:sp>
        <p:nvSpPr>
          <p:cNvPr id="16" name="Text 7"/>
          <p:cNvSpPr/>
          <p:nvPr/>
        </p:nvSpPr>
        <p:spPr>
          <a:xfrm>
            <a:off x="6862946" y="1448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Characteristics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7010602" y="2222394"/>
            <a:ext cx="191619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Typically expands minimal nodes but may produce suboptimal paths in complex environments.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BFS and DFS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93347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7" name="Text 2"/>
          <p:cNvSpPr/>
          <p:nvPr/>
        </p:nvSpPr>
        <p:spPr>
          <a:xfrm>
            <a:off x="331642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8" name="Shape 3"/>
          <p:cNvSpPr/>
          <p:nvPr/>
        </p:nvSpPr>
        <p:spPr>
          <a:xfrm>
            <a:off x="2616272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CD9B63"/>
          </a:solidFill>
          <a:ln/>
        </p:spPr>
      </p:sp>
      <p:sp>
        <p:nvSpPr>
          <p:cNvPr id="9" name="Text 4"/>
          <p:cNvSpPr/>
          <p:nvPr/>
        </p:nvSpPr>
        <p:spPr>
          <a:xfrm>
            <a:off x="2554567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0" name="Shape 5"/>
          <p:cNvSpPr/>
          <p:nvPr/>
        </p:nvSpPr>
        <p:spPr>
          <a:xfrm>
            <a:off x="4839196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11" name="Text 6"/>
          <p:cNvSpPr/>
          <p:nvPr/>
        </p:nvSpPr>
        <p:spPr>
          <a:xfrm>
            <a:off x="4777491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2" name="Shape 7"/>
          <p:cNvSpPr/>
          <p:nvPr/>
        </p:nvSpPr>
        <p:spPr>
          <a:xfrm>
            <a:off x="7062121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CD9B63"/>
          </a:solidFill>
          <a:ln/>
        </p:spPr>
      </p:sp>
      <p:sp>
        <p:nvSpPr>
          <p:cNvPr id="13" name="Text 8"/>
          <p:cNvSpPr/>
          <p:nvPr/>
        </p:nvSpPr>
        <p:spPr>
          <a:xfrm>
            <a:off x="7000416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150943" y="2182216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Breadth-First Search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150943" y="2697320"/>
            <a:ext cx="1916198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Explores level-by-level, guarantees optimal paths on unweighted grids, expands many nodes for completeness.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2425296" y="2182216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Depth-First Search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2425296" y="2697320"/>
            <a:ext cx="191619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Explores deep paths first, not optimal, can produce significantly longer routes, uses less memory.</a:t>
            </a:r>
            <a:endParaRPr lang="en-US" sz="1440" dirty="0"/>
          </a:p>
        </p:txBody>
      </p:sp>
      <p:sp>
        <p:nvSpPr>
          <p:cNvPr id="18" name="Text 13"/>
          <p:cNvSpPr/>
          <p:nvPr/>
        </p:nvSpPr>
        <p:spPr>
          <a:xfrm>
            <a:off x="4628935" y="2182216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Differences</a:t>
            </a:r>
            <a:endParaRPr lang="en-US" sz="1440" dirty="0"/>
          </a:p>
        </p:txBody>
      </p:sp>
      <p:sp>
        <p:nvSpPr>
          <p:cNvPr id="19" name="Text 14"/>
          <p:cNvSpPr/>
          <p:nvPr/>
        </p:nvSpPr>
        <p:spPr>
          <a:xfrm>
            <a:off x="4686792" y="2697320"/>
            <a:ext cx="1916198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BFS finds shortest paths but explores more nodes; DFS explores fewer nodes but produces longer, non-optimal paths.</a:t>
            </a:r>
            <a:endParaRPr lang="en-US" sz="1440" dirty="0"/>
          </a:p>
        </p:txBody>
      </p:sp>
      <p:sp>
        <p:nvSpPr>
          <p:cNvPr id="20" name="Text 15"/>
          <p:cNvSpPr/>
          <p:nvPr/>
        </p:nvSpPr>
        <p:spPr>
          <a:xfrm>
            <a:off x="6948288" y="2307786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Comparison</a:t>
            </a:r>
            <a:endParaRPr lang="en-US" sz="1440" dirty="0"/>
          </a:p>
        </p:txBody>
      </p:sp>
      <p:sp>
        <p:nvSpPr>
          <p:cNvPr id="21" name="Text 16"/>
          <p:cNvSpPr/>
          <p:nvPr/>
        </p:nvSpPr>
        <p:spPr>
          <a:xfrm>
            <a:off x="6948288" y="2697320"/>
            <a:ext cx="1916198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BFS expands more nodes initially but guarantees optimality; DFS performs poorly in deep trap scenarios.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558192" y="13862"/>
            <a:ext cx="7694417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BFS and DFS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910284" y="1803510"/>
            <a:ext cx="2672235" cy="420501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35766" y="3923167"/>
            <a:ext cx="1831405" cy="389174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743577" y="3732803"/>
            <a:ext cx="1831405" cy="389174"/>
          </a:xfrm>
          <a:prstGeom prst="rect">
            <a:avLst/>
          </a:prstGeom>
        </p:spPr>
      </p:pic>
      <p:pic>
        <p:nvPicPr>
          <p:cNvPr id="9" name="Image 6" descr="https://oceandoc-ai.obs.ap-southeast-3.myhuaweicloud.com/176648315678230/bc02f049-5eff-48f1-9c62-4a54276322ba/1766485979690/DFSpic.jpe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018523" y="677643"/>
            <a:ext cx="5125477" cy="4562394"/>
          </a:xfrm>
          <a:prstGeom prst="rect">
            <a:avLst/>
          </a:prstGeom>
        </p:spPr>
      </p:pic>
      <p:pic>
        <p:nvPicPr>
          <p:cNvPr id="10" name="Image 7" descr="https://oceandoc-ai.obs.ap-southeast-3.myhuaweicloud.com/176648315678230/62b532ba-d887-4b4c-80e5-ee8a24a96231/1766485929201/BFSpic.jpeg">    </p:cNvPr>
          <p:cNvPicPr>
            <a:picLocks noChangeAspect="1"/>
          </p:cNvPicPr>
          <p:nvPr/>
        </p:nvPicPr>
        <p:blipFill>
          <a:blip r:embed="rId9"/>
          <a:srcRect l="0" r="-5263" t="0" b="0"/>
          <a:stretch/>
        </p:blipFill>
        <p:spPr>
          <a:xfrm>
            <a:off x="0" y="677643"/>
            <a:ext cx="4435935" cy="45623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Algorithm Comparison Metrics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1249220" y="969902"/>
            <a:ext cx="6654847" cy="905793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228600" y="2582266"/>
            <a:ext cx="2011680" cy="655679"/>
          </a:xfrm>
          <a:custGeom>
            <a:avLst/>
            <a:gdLst/>
            <a:ahLst/>
            <a:cxnLst/>
            <a:rect l="l" t="t" r="r" b="b"/>
            <a:pathLst>
              <a:path w="2011680" h="655679">
                <a:moveTo>
                  <a:pt x="0" y="0"/>
                </a:moveTo>
                <a:moveTo>
                  <a:pt x="0" y="0"/>
                </a:moveTo>
                <a:lnTo>
                  <a:pt x="2011680" y="0"/>
                </a:lnTo>
                <a:lnTo>
                  <a:pt x="2011680" y="655679"/>
                </a:lnTo>
                <a:lnTo>
                  <a:pt x="0" y="655679"/>
                </a:lnTo>
                <a:close/>
              </a:path>
            </a:pathLst>
          </a:custGeom>
          <a:solidFill>
            <a:srgbClr val="EC9F48">
              <a:alpha val="902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2453640" y="2582266"/>
            <a:ext cx="2011680" cy="655679"/>
          </a:xfrm>
          <a:custGeom>
            <a:avLst/>
            <a:gdLst/>
            <a:ahLst/>
            <a:cxnLst/>
            <a:rect l="l" t="t" r="r" b="b"/>
            <a:pathLst>
              <a:path w="2011680" h="655679">
                <a:moveTo>
                  <a:pt x="0" y="0"/>
                </a:moveTo>
                <a:moveTo>
                  <a:pt x="0" y="0"/>
                </a:moveTo>
                <a:lnTo>
                  <a:pt x="2011680" y="0"/>
                </a:lnTo>
                <a:lnTo>
                  <a:pt x="2011680" y="655679"/>
                </a:lnTo>
                <a:lnTo>
                  <a:pt x="0" y="655679"/>
                </a:lnTo>
                <a:close/>
              </a:path>
            </a:pathLst>
          </a:custGeom>
          <a:solidFill>
            <a:srgbClr val="EC9F48">
              <a:alpha val="902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4678680" y="2582266"/>
            <a:ext cx="2011680" cy="655679"/>
          </a:xfrm>
          <a:custGeom>
            <a:avLst/>
            <a:gdLst/>
            <a:ahLst/>
            <a:cxnLst/>
            <a:rect l="l" t="t" r="r" b="b"/>
            <a:pathLst>
              <a:path w="2011680" h="655679">
                <a:moveTo>
                  <a:pt x="0" y="0"/>
                </a:moveTo>
                <a:moveTo>
                  <a:pt x="0" y="0"/>
                </a:moveTo>
                <a:lnTo>
                  <a:pt x="2011680" y="0"/>
                </a:lnTo>
                <a:lnTo>
                  <a:pt x="2011680" y="655679"/>
                </a:lnTo>
                <a:lnTo>
                  <a:pt x="0" y="655679"/>
                </a:lnTo>
                <a:close/>
              </a:path>
            </a:pathLst>
          </a:custGeom>
          <a:solidFill>
            <a:srgbClr val="EC9F48">
              <a:alpha val="9020"/>
            </a:srgbClr>
          </a:solidFill>
          <a:ln/>
        </p:spPr>
      </p:sp>
      <p:sp>
        <p:nvSpPr>
          <p:cNvPr id="10" name="Shape 4"/>
          <p:cNvSpPr/>
          <p:nvPr/>
        </p:nvSpPr>
        <p:spPr>
          <a:xfrm>
            <a:off x="6903720" y="2582266"/>
            <a:ext cx="2011680" cy="655679"/>
          </a:xfrm>
          <a:custGeom>
            <a:avLst/>
            <a:gdLst/>
            <a:ahLst/>
            <a:cxnLst/>
            <a:rect l="l" t="t" r="r" b="b"/>
            <a:pathLst>
              <a:path w="2011680" h="655679">
                <a:moveTo>
                  <a:pt x="0" y="0"/>
                </a:moveTo>
                <a:moveTo>
                  <a:pt x="0" y="0"/>
                </a:moveTo>
                <a:lnTo>
                  <a:pt x="2011680" y="0"/>
                </a:lnTo>
                <a:lnTo>
                  <a:pt x="2011680" y="655679"/>
                </a:lnTo>
                <a:lnTo>
                  <a:pt x="0" y="655679"/>
                </a:lnTo>
                <a:close/>
              </a:path>
            </a:pathLst>
          </a:custGeom>
          <a:solidFill>
            <a:srgbClr val="EC9F48">
              <a:alpha val="9020"/>
            </a:srgbClr>
          </a:solidFill>
          <a:ln/>
        </p:spPr>
      </p:sp>
      <p:sp>
        <p:nvSpPr>
          <p:cNvPr id="11" name="Text 5"/>
          <p:cNvSpPr/>
          <p:nvPr/>
        </p:nvSpPr>
        <p:spPr>
          <a:xfrm>
            <a:off x="232999" y="2727225"/>
            <a:ext cx="201217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Path Quality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228600" y="3252817"/>
            <a:ext cx="201168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Measures optimal path length and solution completeness across algorithms.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2458529" y="2727225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Expanded Nodes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2453640" y="3252817"/>
            <a:ext cx="201168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Counts nodes explored during search, indicating algorithm efficiency and memory usage.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4683569" y="2727225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 Complexity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4678680" y="3252817"/>
            <a:ext cx="201168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Measures execution speed in seconds, critical for real-time applications.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6908609" y="2727225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Algorithm Behavior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6903720" y="3252817"/>
            <a:ext cx="201168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Evaluates performance in special cases like mazes, traps and no-path scenarios.</a:t>
            </a:r>
            <a:endParaRPr lang="en-US" sz="1440" dirty="0"/>
          </a:p>
        </p:txBody>
      </p:sp>
      <p:sp>
        <p:nvSpPr>
          <p:cNvPr id="19" name="Shape 13"/>
          <p:cNvSpPr/>
          <p:nvPr/>
        </p:nvSpPr>
        <p:spPr>
          <a:xfrm>
            <a:off x="1156394" y="1843127"/>
            <a:ext cx="682221" cy="682221"/>
          </a:xfrm>
          <a:custGeom>
            <a:avLst/>
            <a:gdLst/>
            <a:ahLst/>
            <a:cxnLst/>
            <a:rect l="l" t="t" r="r" b="b"/>
            <a:pathLst>
              <a:path w="682221" h="682221">
                <a:moveTo>
                  <a:pt x="341111" y="0"/>
                </a:moveTo>
                <a:moveTo>
                  <a:pt x="341111" y="0"/>
                </a:moveTo>
                <a:cubicBezTo>
                  <a:pt x="529375" y="0"/>
                  <a:pt x="682221" y="152847"/>
                  <a:pt x="682221" y="341111"/>
                </a:cubicBezTo>
                <a:cubicBezTo>
                  <a:pt x="682221" y="529375"/>
                  <a:pt x="529375" y="682221"/>
                  <a:pt x="341111" y="682221"/>
                </a:cubicBezTo>
                <a:cubicBezTo>
                  <a:pt x="152847" y="682221"/>
                  <a:pt x="0" y="529375"/>
                  <a:pt x="0" y="341111"/>
                </a:cubicBezTo>
                <a:cubicBezTo>
                  <a:pt x="0" y="152847"/>
                  <a:pt x="152847" y="0"/>
                  <a:pt x="341111" y="0"/>
                </a:cubic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20" name="Shape 14"/>
          <p:cNvSpPr/>
          <p:nvPr/>
        </p:nvSpPr>
        <p:spPr>
          <a:xfrm>
            <a:off x="3206058" y="1843127"/>
            <a:ext cx="682221" cy="682221"/>
          </a:xfrm>
          <a:custGeom>
            <a:avLst/>
            <a:gdLst/>
            <a:ahLst/>
            <a:cxnLst/>
            <a:rect l="l" t="t" r="r" b="b"/>
            <a:pathLst>
              <a:path w="682221" h="682221">
                <a:moveTo>
                  <a:pt x="341111" y="0"/>
                </a:moveTo>
                <a:moveTo>
                  <a:pt x="341111" y="0"/>
                </a:moveTo>
                <a:cubicBezTo>
                  <a:pt x="529375" y="0"/>
                  <a:pt x="682221" y="152847"/>
                  <a:pt x="682221" y="341111"/>
                </a:cubicBezTo>
                <a:cubicBezTo>
                  <a:pt x="682221" y="529375"/>
                  <a:pt x="529375" y="682221"/>
                  <a:pt x="341111" y="682221"/>
                </a:cubicBezTo>
                <a:cubicBezTo>
                  <a:pt x="152847" y="682221"/>
                  <a:pt x="0" y="529375"/>
                  <a:pt x="0" y="341111"/>
                </a:cubicBezTo>
                <a:cubicBezTo>
                  <a:pt x="0" y="152847"/>
                  <a:pt x="152847" y="0"/>
                  <a:pt x="341111" y="0"/>
                </a:cubic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21" name="Shape 15"/>
          <p:cNvSpPr/>
          <p:nvPr/>
        </p:nvSpPr>
        <p:spPr>
          <a:xfrm>
            <a:off x="5255721" y="1843127"/>
            <a:ext cx="682221" cy="682221"/>
          </a:xfrm>
          <a:custGeom>
            <a:avLst/>
            <a:gdLst/>
            <a:ahLst/>
            <a:cxnLst/>
            <a:rect l="l" t="t" r="r" b="b"/>
            <a:pathLst>
              <a:path w="682221" h="682221">
                <a:moveTo>
                  <a:pt x="341111" y="0"/>
                </a:moveTo>
                <a:moveTo>
                  <a:pt x="341111" y="0"/>
                </a:moveTo>
                <a:cubicBezTo>
                  <a:pt x="529375" y="0"/>
                  <a:pt x="682221" y="152847"/>
                  <a:pt x="682221" y="341111"/>
                </a:cubicBezTo>
                <a:cubicBezTo>
                  <a:pt x="682221" y="529375"/>
                  <a:pt x="529375" y="682221"/>
                  <a:pt x="341111" y="682221"/>
                </a:cubicBezTo>
                <a:cubicBezTo>
                  <a:pt x="152847" y="682221"/>
                  <a:pt x="0" y="529375"/>
                  <a:pt x="0" y="341111"/>
                </a:cubicBezTo>
                <a:cubicBezTo>
                  <a:pt x="0" y="152847"/>
                  <a:pt x="152847" y="0"/>
                  <a:pt x="341111" y="0"/>
                </a:cubic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22" name="Shape 16"/>
          <p:cNvSpPr/>
          <p:nvPr/>
        </p:nvSpPr>
        <p:spPr>
          <a:xfrm>
            <a:off x="7305385" y="1843127"/>
            <a:ext cx="682221" cy="682221"/>
          </a:xfrm>
          <a:custGeom>
            <a:avLst/>
            <a:gdLst/>
            <a:ahLst/>
            <a:cxnLst/>
            <a:rect l="l" t="t" r="r" b="b"/>
            <a:pathLst>
              <a:path w="682221" h="682221">
                <a:moveTo>
                  <a:pt x="341111" y="0"/>
                </a:moveTo>
                <a:moveTo>
                  <a:pt x="341111" y="0"/>
                </a:moveTo>
                <a:cubicBezTo>
                  <a:pt x="529375" y="0"/>
                  <a:pt x="682221" y="152847"/>
                  <a:pt x="682221" y="341111"/>
                </a:cubicBezTo>
                <a:cubicBezTo>
                  <a:pt x="682221" y="529375"/>
                  <a:pt x="529375" y="682221"/>
                  <a:pt x="341111" y="682221"/>
                </a:cubicBezTo>
                <a:cubicBezTo>
                  <a:pt x="152847" y="682221"/>
                  <a:pt x="0" y="529375"/>
                  <a:pt x="0" y="341111"/>
                </a:cubicBezTo>
                <a:cubicBezTo>
                  <a:pt x="0" y="152847"/>
                  <a:pt x="152847" y="0"/>
                  <a:pt x="341111" y="0"/>
                </a:cubicBezTo>
                <a:close/>
              </a:path>
            </a:pathLst>
          </a:custGeom>
          <a:solidFill>
            <a:srgbClr val="EC9F48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8894" y="2006636"/>
            <a:ext cx="355202" cy="355202"/>
          </a:xfrm>
          <a:prstGeom prst="rect">
            <a:avLst/>
          </a:prstGeom>
        </p:spPr>
      </p:pic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1200" y="2037934"/>
            <a:ext cx="292608" cy="292608"/>
          </a:xfrm>
          <a:prstGeom prst="rect">
            <a:avLst/>
          </a:prstGeom>
        </p:spPr>
      </p:pic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0008" y="2047078"/>
            <a:ext cx="274320" cy="274320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1092" y="1983070"/>
            <a:ext cx="41148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Heuristic Functions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90100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w="0"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EC9F48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>
            <a:off x="304842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8" name="Shape 3"/>
          <p:cNvSpPr/>
          <p:nvPr/>
        </p:nvSpPr>
        <p:spPr>
          <a:xfrm>
            <a:off x="2504386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w="0"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CD9B63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2409655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CD9B63"/>
          </a:solidFill>
          <a:ln/>
        </p:spPr>
      </p:sp>
      <p:sp>
        <p:nvSpPr>
          <p:cNvPr id="10" name="Shape 5"/>
          <p:cNvSpPr/>
          <p:nvPr/>
        </p:nvSpPr>
        <p:spPr>
          <a:xfrm>
            <a:off x="4661050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w="0"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EC9F48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>
            <a:off x="4566319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12" name="Shape 7"/>
          <p:cNvSpPr/>
          <p:nvPr/>
        </p:nvSpPr>
        <p:spPr>
          <a:xfrm>
            <a:off x="6828200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w="0"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CD9B63"/>
            </a:solidFill>
            <a:prstDash val="solid"/>
            <a:headEnd type="none"/>
            <a:tailEnd type="none"/>
          </a:ln>
        </p:spPr>
      </p:sp>
      <p:sp>
        <p:nvSpPr>
          <p:cNvPr id="13" name="Shape 8"/>
          <p:cNvSpPr/>
          <p:nvPr/>
        </p:nvSpPr>
        <p:spPr>
          <a:xfrm>
            <a:off x="6733469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CD9B63"/>
          </a:solidFill>
          <a:ln/>
        </p:spPr>
      </p:sp>
      <p:sp>
        <p:nvSpPr>
          <p:cNvPr id="14" name="Text 9"/>
          <p:cNvSpPr/>
          <p:nvPr/>
        </p:nvSpPr>
        <p:spPr>
          <a:xfrm>
            <a:off x="484831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are heuristic functions?</a:t>
            </a:r>
            <a:endParaRPr lang="en-US" sz="1440" dirty="0"/>
          </a:p>
        </p:txBody>
      </p:sp>
      <p:pic>
        <p:nvPicPr>
          <p:cNvPr id="15" name="Image 3" descr="https://oceandoc-ai.obs.ap-southeast-3.myhuaweicloud.com:443/image_1766483289531_uhjMDh.jpg">    </p:cNvPr>
          <p:cNvPicPr>
            <a:picLocks noChangeAspect="1"/>
          </p:cNvPicPr>
          <p:nvPr/>
        </p:nvPicPr>
        <p:blipFill>
          <a:blip r:embed="rId5"/>
          <a:srcRect l="0" r="0" t="10000" b="10000"/>
          <a:stretch/>
        </p:blipFill>
        <p:spPr>
          <a:xfrm>
            <a:off x="484632" y="3348104"/>
            <a:ext cx="1875434" cy="14996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4831" y="1877608"/>
            <a:ext cx="1953132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Mathematical formulas estimating distance from current node to goal, guiding search algorithms toward efficient paths.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2615405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Manhattan Distance</a:t>
            </a:r>
            <a:endParaRPr lang="en-US" sz="1440" dirty="0"/>
          </a:p>
        </p:txBody>
      </p:sp>
      <p:pic>
        <p:nvPicPr>
          <p:cNvPr id="18" name="Image 4" descr="https://oceandoc-ai.obs.ap-southeast-3.myhuaweicloud.com:443/image_1766483293126_X1bYUn.jpg">    </p:cNvPr>
          <p:cNvPicPr>
            <a:picLocks noChangeAspect="1"/>
          </p:cNvPicPr>
          <p:nvPr/>
        </p:nvPicPr>
        <p:blipFill>
          <a:blip r:embed="rId6"/>
          <a:srcRect l="0" r="0" t="10000" b="10000"/>
          <a:stretch/>
        </p:blipFill>
        <p:spPr>
          <a:xfrm>
            <a:off x="2648705" y="3348104"/>
            <a:ext cx="1875434" cy="14996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615405" y="1877608"/>
            <a:ext cx="195313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Calculates sum of horizontal and vertical distances, ideal for grid-based movement without diagonals.</a:t>
            </a:r>
            <a:endParaRPr lang="en-US" sz="1440" dirty="0"/>
          </a:p>
        </p:txBody>
      </p:sp>
      <p:sp>
        <p:nvSpPr>
          <p:cNvPr id="20" name="Text 13"/>
          <p:cNvSpPr/>
          <p:nvPr/>
        </p:nvSpPr>
        <p:spPr>
          <a:xfrm>
            <a:off x="4755452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Euclidean Distance</a:t>
            </a:r>
            <a:endParaRPr lang="en-US" sz="1440" dirty="0"/>
          </a:p>
        </p:txBody>
      </p:sp>
      <p:pic>
        <p:nvPicPr>
          <p:cNvPr id="21" name="Image 5" descr="https://oceandoc-ai.obs.ap-southeast-3.myhuaweicloud.com:443/image_1766483296185_h1aGiL.jpg">    </p:cNvPr>
          <p:cNvPicPr>
            <a:picLocks noChangeAspect="1"/>
          </p:cNvPicPr>
          <p:nvPr/>
        </p:nvPicPr>
        <p:blipFill>
          <a:blip r:embed="rId7"/>
          <a:srcRect l="0" r="0" t="10000" b="10000"/>
          <a:stretch/>
        </p:blipFill>
        <p:spPr>
          <a:xfrm>
            <a:off x="4812778" y="3348104"/>
            <a:ext cx="1875434" cy="149961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755452" y="1877608"/>
            <a:ext cx="195313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Measures straight-line distance between points, suitable when diagonal movement is allowed.</a:t>
            </a:r>
            <a:endParaRPr lang="en-US" sz="1440" dirty="0"/>
          </a:p>
        </p:txBody>
      </p:sp>
      <p:sp>
        <p:nvSpPr>
          <p:cNvPr id="23" name="Text 15"/>
          <p:cNvSpPr/>
          <p:nvPr/>
        </p:nvSpPr>
        <p:spPr>
          <a:xfrm>
            <a:off x="6886026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 on Algorithms</a:t>
            </a:r>
            <a:endParaRPr lang="en-US" sz="1440" dirty="0"/>
          </a:p>
        </p:txBody>
      </p:sp>
      <p:pic>
        <p:nvPicPr>
          <p:cNvPr id="24" name="Image 6" descr="https://oceandoc-ai.obs.ap-southeast-3.myhuaweicloud.com:443/image_1766483299207_QxEmQ6.jpg">    </p:cNvPr>
          <p:cNvPicPr>
            <a:picLocks noChangeAspect="1"/>
          </p:cNvPicPr>
          <p:nvPr/>
        </p:nvPicPr>
        <p:blipFill>
          <a:blip r:embed="rId8"/>
          <a:srcRect l="0" r="0" t="10000" b="10000"/>
          <a:stretch/>
        </p:blipFill>
        <p:spPr>
          <a:xfrm>
            <a:off x="6976851" y="3348104"/>
            <a:ext cx="1875434" cy="149961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886026" y="1877608"/>
            <a:ext cx="1953132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Determines efficiency in A* and Greedy Best-First Search, balancing path optimality with computational speed.</a:t>
            </a:r>
            <a:endParaRPr lang="en-US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Results and Analysis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CD9B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Tables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84378" y="2935224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7" name="Shape 2"/>
          <p:cNvSpPr/>
          <p:nvPr/>
        </p:nvSpPr>
        <p:spPr>
          <a:xfrm>
            <a:off x="5913165" y="2964989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8" name="Shape 3"/>
          <p:cNvSpPr/>
          <p:nvPr/>
        </p:nvSpPr>
        <p:spPr>
          <a:xfrm>
            <a:off x="284378" y="994431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9" name="Shape 4"/>
          <p:cNvSpPr/>
          <p:nvPr/>
        </p:nvSpPr>
        <p:spPr>
          <a:xfrm>
            <a:off x="5825346" y="964753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10" name="Text 5"/>
          <p:cNvSpPr/>
          <p:nvPr/>
        </p:nvSpPr>
        <p:spPr>
          <a:xfrm>
            <a:off x="284637" y="1024108"/>
            <a:ext cx="2847107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Algorithm Performance Comparison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284637" y="1533044"/>
            <a:ext cx="2847483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Results showing path finding success, cost, and nodes expanded across five test maps.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5770854" y="994431"/>
            <a:ext cx="2837591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Simple Map Results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5825346" y="1543071"/>
            <a:ext cx="283726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A*, Dijkstra, BFS optimal with cost=8. Greedy uses fewer nodes. DFS produces longer paths.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284637" y="2964989"/>
            <a:ext cx="2847107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Maze Performance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284637" y="3474012"/>
            <a:ext cx="2847483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A*, Dijkstra, BFS find optimal path=18. Greedy expands only 19 nodes versus 77 for others.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5981124" y="2935224"/>
            <a:ext cx="2837591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Special Test Cases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5825346" y="3483864"/>
            <a:ext cx="283726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algorithms correctly identify no-path scenarios. DFS shows suboptimal behavior in trap maps.</a:t>
            </a:r>
            <a:endParaRPr lang="en-US" sz="14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Path Optimality Findings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01" y="998503"/>
            <a:ext cx="2033674" cy="3874977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635904" y="1931902"/>
            <a:ext cx="1249869" cy="0"/>
          </a:xfrm>
          <a:custGeom>
            <a:avLst/>
            <a:gdLst/>
            <a:ahLst/>
            <a:cxnLst/>
            <a:rect l="l" t="t" r="r" b="b"/>
            <a:pathLst>
              <a:path w="1249869" h="0">
                <a:moveTo>
                  <a:pt x="0" y="0"/>
                </a:moveTo>
                <a:moveTo>
                  <a:pt x="0" y="0"/>
                </a:moveTo>
                <a:lnTo>
                  <a:pt x="1249869" y="0"/>
                </a:lnTo>
              </a:path>
            </a:pathLst>
          </a:custGeom>
          <a:noFill/>
          <a:ln w="10268">
            <a:solidFill>
              <a:srgbClr val="402800">
                <a:alpha val="47843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>
            <a:off x="881056" y="3794523"/>
            <a:ext cx="759564" cy="759564"/>
          </a:xfrm>
          <a:custGeom>
            <a:avLst/>
            <a:gdLst/>
            <a:ahLst/>
            <a:cxnLst/>
            <a:rect l="l" t="t" r="r" b="b"/>
            <a:pathLst>
              <a:path w="759564" h="759564">
                <a:moveTo>
                  <a:pt x="379782" y="0"/>
                </a:moveTo>
                <a:moveTo>
                  <a:pt x="379782" y="0"/>
                </a:moveTo>
                <a:cubicBezTo>
                  <a:pt x="589389" y="0"/>
                  <a:pt x="759564" y="170175"/>
                  <a:pt x="759564" y="379782"/>
                </a:cubicBezTo>
                <a:cubicBezTo>
                  <a:pt x="759564" y="589389"/>
                  <a:pt x="589389" y="759564"/>
                  <a:pt x="379782" y="759564"/>
                </a:cubicBezTo>
                <a:cubicBezTo>
                  <a:pt x="170175" y="759564"/>
                  <a:pt x="0" y="589389"/>
                  <a:pt x="0" y="379782"/>
                </a:cubicBezTo>
                <a:cubicBezTo>
                  <a:pt x="0" y="170175"/>
                  <a:pt x="170175" y="0"/>
                  <a:pt x="379782" y="0"/>
                </a:cubicBezTo>
                <a:close/>
              </a:path>
            </a:pathLst>
          </a:custGeom>
          <a:solidFill>
            <a:srgbClr val="402800"/>
          </a:solidFill>
          <a:ln/>
        </p:spPr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962" y="3981428"/>
            <a:ext cx="385754" cy="385754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9283" y="998503"/>
            <a:ext cx="2033674" cy="3874977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2841186" y="1931902"/>
            <a:ext cx="1249869" cy="0"/>
          </a:xfrm>
          <a:custGeom>
            <a:avLst/>
            <a:gdLst/>
            <a:ahLst/>
            <a:cxnLst/>
            <a:rect l="l" t="t" r="r" b="b"/>
            <a:pathLst>
              <a:path w="1249869" h="0">
                <a:moveTo>
                  <a:pt x="0" y="0"/>
                </a:moveTo>
                <a:moveTo>
                  <a:pt x="0" y="0"/>
                </a:moveTo>
                <a:lnTo>
                  <a:pt x="1249869" y="0"/>
                </a:lnTo>
              </a:path>
            </a:pathLst>
          </a:custGeom>
          <a:noFill/>
          <a:ln w="10268">
            <a:solidFill>
              <a:srgbClr val="EC9F48">
                <a:alpha val="4902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4"/>
          <p:cNvSpPr/>
          <p:nvPr/>
        </p:nvSpPr>
        <p:spPr>
          <a:xfrm>
            <a:off x="3086338" y="3794523"/>
            <a:ext cx="759564" cy="759564"/>
          </a:xfrm>
          <a:custGeom>
            <a:avLst/>
            <a:gdLst/>
            <a:ahLst/>
            <a:cxnLst/>
            <a:rect l="l" t="t" r="r" b="b"/>
            <a:pathLst>
              <a:path w="759564" h="759564">
                <a:moveTo>
                  <a:pt x="379782" y="0"/>
                </a:moveTo>
                <a:moveTo>
                  <a:pt x="379782" y="0"/>
                </a:moveTo>
                <a:cubicBezTo>
                  <a:pt x="589389" y="0"/>
                  <a:pt x="759564" y="170175"/>
                  <a:pt x="759564" y="379782"/>
                </a:cubicBezTo>
                <a:cubicBezTo>
                  <a:pt x="759564" y="589389"/>
                  <a:pt x="589389" y="759564"/>
                  <a:pt x="379782" y="759564"/>
                </a:cubicBezTo>
                <a:cubicBezTo>
                  <a:pt x="170175" y="759564"/>
                  <a:pt x="0" y="589389"/>
                  <a:pt x="0" y="379782"/>
                </a:cubicBezTo>
                <a:cubicBezTo>
                  <a:pt x="0" y="170175"/>
                  <a:pt x="170175" y="0"/>
                  <a:pt x="379782" y="0"/>
                </a:cubicBezTo>
                <a:close/>
              </a:path>
            </a:pathLst>
          </a:custGeom>
          <a:solidFill>
            <a:srgbClr val="EC9F48"/>
          </a:solidFill>
          <a:ln/>
        </p:spPr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4565" y="998503"/>
            <a:ext cx="2033674" cy="3874977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5046468" y="1931902"/>
            <a:ext cx="1249869" cy="0"/>
          </a:xfrm>
          <a:custGeom>
            <a:avLst/>
            <a:gdLst/>
            <a:ahLst/>
            <a:cxnLst/>
            <a:rect l="l" t="t" r="r" b="b"/>
            <a:pathLst>
              <a:path w="1249869" h="0">
                <a:moveTo>
                  <a:pt x="0" y="0"/>
                </a:moveTo>
                <a:moveTo>
                  <a:pt x="0" y="0"/>
                </a:moveTo>
                <a:lnTo>
                  <a:pt x="1249869" y="0"/>
                </a:lnTo>
              </a:path>
            </a:pathLst>
          </a:custGeom>
          <a:noFill/>
          <a:ln w="10268">
            <a:solidFill>
              <a:srgbClr val="402800">
                <a:alpha val="47843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6"/>
          <p:cNvSpPr/>
          <p:nvPr/>
        </p:nvSpPr>
        <p:spPr>
          <a:xfrm>
            <a:off x="5291620" y="3794523"/>
            <a:ext cx="759564" cy="759564"/>
          </a:xfrm>
          <a:custGeom>
            <a:avLst/>
            <a:gdLst/>
            <a:ahLst/>
            <a:cxnLst/>
            <a:rect l="l" t="t" r="r" b="b"/>
            <a:pathLst>
              <a:path w="759564" h="759564">
                <a:moveTo>
                  <a:pt x="379782" y="0"/>
                </a:moveTo>
                <a:moveTo>
                  <a:pt x="379782" y="0"/>
                </a:moveTo>
                <a:cubicBezTo>
                  <a:pt x="589389" y="0"/>
                  <a:pt x="759564" y="170175"/>
                  <a:pt x="759564" y="379782"/>
                </a:cubicBezTo>
                <a:cubicBezTo>
                  <a:pt x="759564" y="589389"/>
                  <a:pt x="589389" y="759564"/>
                  <a:pt x="379782" y="759564"/>
                </a:cubicBezTo>
                <a:cubicBezTo>
                  <a:pt x="170175" y="759564"/>
                  <a:pt x="0" y="589389"/>
                  <a:pt x="0" y="379782"/>
                </a:cubicBezTo>
                <a:cubicBezTo>
                  <a:pt x="0" y="170175"/>
                  <a:pt x="170175" y="0"/>
                  <a:pt x="379782" y="0"/>
                </a:cubicBezTo>
                <a:close/>
              </a:path>
            </a:pathLst>
          </a:custGeom>
          <a:solidFill>
            <a:srgbClr val="402800"/>
          </a:solidFill>
          <a:ln/>
        </p:spPr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9847" y="998503"/>
            <a:ext cx="2033674" cy="3874977"/>
          </a:xfrm>
          <a:prstGeom prst="rect">
            <a:avLst/>
          </a:prstGeom>
        </p:spPr>
      </p:pic>
      <p:sp>
        <p:nvSpPr>
          <p:cNvPr id="17" name="Shape 7"/>
          <p:cNvSpPr/>
          <p:nvPr/>
        </p:nvSpPr>
        <p:spPr>
          <a:xfrm>
            <a:off x="7251750" y="1931902"/>
            <a:ext cx="1249869" cy="0"/>
          </a:xfrm>
          <a:custGeom>
            <a:avLst/>
            <a:gdLst/>
            <a:ahLst/>
            <a:cxnLst/>
            <a:rect l="l" t="t" r="r" b="b"/>
            <a:pathLst>
              <a:path w="1249869" h="0">
                <a:moveTo>
                  <a:pt x="0" y="0"/>
                </a:moveTo>
                <a:moveTo>
                  <a:pt x="0" y="0"/>
                </a:moveTo>
                <a:lnTo>
                  <a:pt x="1249869" y="0"/>
                </a:lnTo>
              </a:path>
            </a:pathLst>
          </a:custGeom>
          <a:noFill/>
          <a:ln w="10268">
            <a:solidFill>
              <a:srgbClr val="EC9F48">
                <a:alpha val="4902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8"/>
          <p:cNvSpPr/>
          <p:nvPr/>
        </p:nvSpPr>
        <p:spPr>
          <a:xfrm>
            <a:off x="7496902" y="3794523"/>
            <a:ext cx="759564" cy="759564"/>
          </a:xfrm>
          <a:custGeom>
            <a:avLst/>
            <a:gdLst/>
            <a:ahLst/>
            <a:cxnLst/>
            <a:rect l="l" t="t" r="r" b="b"/>
            <a:pathLst>
              <a:path w="759564" h="759564">
                <a:moveTo>
                  <a:pt x="379782" y="0"/>
                </a:moveTo>
                <a:moveTo>
                  <a:pt x="379782" y="0"/>
                </a:moveTo>
                <a:cubicBezTo>
                  <a:pt x="589389" y="0"/>
                  <a:pt x="759564" y="170175"/>
                  <a:pt x="759564" y="379782"/>
                </a:cubicBezTo>
                <a:cubicBezTo>
                  <a:pt x="759564" y="589389"/>
                  <a:pt x="589389" y="759564"/>
                  <a:pt x="379782" y="759564"/>
                </a:cubicBezTo>
                <a:cubicBezTo>
                  <a:pt x="170175" y="759564"/>
                  <a:pt x="0" y="589389"/>
                  <a:pt x="0" y="379782"/>
                </a:cubicBezTo>
                <a:cubicBezTo>
                  <a:pt x="0" y="170175"/>
                  <a:pt x="170175" y="0"/>
                  <a:pt x="379782" y="0"/>
                </a:cubic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19" name="Text 9"/>
          <p:cNvSpPr/>
          <p:nvPr/>
        </p:nvSpPr>
        <p:spPr>
          <a:xfrm>
            <a:off x="340666" y="1057434"/>
            <a:ext cx="1840346" cy="86049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Optimal Path Algorithms</a:t>
            </a:r>
            <a:endParaRPr lang="en-US" sz="1440" dirty="0"/>
          </a:p>
        </p:txBody>
      </p:sp>
      <p:sp>
        <p:nvSpPr>
          <p:cNvPr id="20" name="Text 10"/>
          <p:cNvSpPr/>
          <p:nvPr/>
        </p:nvSpPr>
        <p:spPr>
          <a:xfrm>
            <a:off x="340666" y="1917928"/>
            <a:ext cx="1840346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A*, Dijkstra, and BFS consistently find shortest paths on unweighted grids, demonstrating reliable optimality.</a:t>
            </a:r>
            <a:endParaRPr lang="en-US" sz="1440" dirty="0"/>
          </a:p>
        </p:txBody>
      </p:sp>
      <p:sp>
        <p:nvSpPr>
          <p:cNvPr id="21" name="Text 11"/>
          <p:cNvSpPr/>
          <p:nvPr/>
        </p:nvSpPr>
        <p:spPr>
          <a:xfrm>
            <a:off x="2545777" y="1057434"/>
            <a:ext cx="1840687" cy="86045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Node Expansion Efficiency</a:t>
            </a:r>
            <a:endParaRPr lang="en-US" sz="1440" dirty="0"/>
          </a:p>
        </p:txBody>
      </p:sp>
      <p:sp>
        <p:nvSpPr>
          <p:cNvPr id="22" name="Text 12"/>
          <p:cNvSpPr/>
          <p:nvPr/>
        </p:nvSpPr>
        <p:spPr>
          <a:xfrm>
            <a:off x="2545947" y="1917928"/>
            <a:ext cx="1840346" cy="1655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A* expands fewer nodes than Dijkstra/BFS by using heuristics, while Greedy requires minimal expansion but sacrifices guarantees.</a:t>
            </a:r>
            <a:endParaRPr lang="en-US" sz="1440" dirty="0"/>
          </a:p>
        </p:txBody>
      </p:sp>
      <p:sp>
        <p:nvSpPr>
          <p:cNvPr id="23" name="Text 13"/>
          <p:cNvSpPr/>
          <p:nvPr/>
        </p:nvSpPr>
        <p:spPr>
          <a:xfrm>
            <a:off x="4751058" y="1057434"/>
            <a:ext cx="1840687" cy="86045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DFS Path Quality</a:t>
            </a:r>
            <a:endParaRPr lang="en-US" sz="1440" dirty="0"/>
          </a:p>
        </p:txBody>
      </p:sp>
      <p:sp>
        <p:nvSpPr>
          <p:cNvPr id="24" name="Text 14"/>
          <p:cNvSpPr/>
          <p:nvPr/>
        </p:nvSpPr>
        <p:spPr>
          <a:xfrm>
            <a:off x="4751229" y="1917928"/>
            <a:ext cx="1840346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DFS consistently produces longer paths, showing 2-3x length in test maps compared to optimal algorithms.</a:t>
            </a:r>
            <a:endParaRPr lang="en-US" sz="1440" dirty="0"/>
          </a:p>
        </p:txBody>
      </p:sp>
      <p:sp>
        <p:nvSpPr>
          <p:cNvPr id="25" name="Text 15"/>
          <p:cNvSpPr/>
          <p:nvPr/>
        </p:nvSpPr>
        <p:spPr>
          <a:xfrm>
            <a:off x="6956340" y="1057434"/>
            <a:ext cx="1840687" cy="86045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Greedy Algorithm Performance</a:t>
            </a:r>
            <a:endParaRPr lang="en-US" sz="1440" dirty="0"/>
          </a:p>
        </p:txBody>
      </p:sp>
      <p:sp>
        <p:nvSpPr>
          <p:cNvPr id="26" name="Text 16"/>
          <p:cNvSpPr/>
          <p:nvPr/>
        </p:nvSpPr>
        <p:spPr>
          <a:xfrm>
            <a:off x="6956511" y="1917928"/>
            <a:ext cx="1840346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Often matches optimal path length in test scenarios despite theoretical limitations, with significantly reduced node expansion.</a:t>
            </a:r>
            <a:endParaRPr lang="en-US" sz="144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8258" y="4026443"/>
            <a:ext cx="295724" cy="295724"/>
          </a:xfrm>
          <a:prstGeom prst="rect">
            <a:avLst/>
          </a:prstGeom>
        </p:spPr>
      </p:pic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9609" y="3957441"/>
            <a:ext cx="443585" cy="433728"/>
          </a:xfrm>
          <a:prstGeom prst="rect">
            <a:avLst/>
          </a:prstGeom>
        </p:spPr>
      </p:pic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8965" y="4016586"/>
            <a:ext cx="315439" cy="3154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Expanded Nodes Comparison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031546" y="1234440"/>
            <a:ext cx="2843784" cy="66294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923" y="1014984"/>
            <a:ext cx="2850185" cy="66294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363" y="2884018"/>
            <a:ext cx="2758745" cy="662940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6031546" y="3103474"/>
            <a:ext cx="2878531" cy="66294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498703" y="1163574"/>
            <a:ext cx="2585405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Expanded Nodes Comparison</a:t>
            </a:r>
            <a:endParaRPr lang="en-US" sz="1440" dirty="0"/>
          </a:p>
        </p:txBody>
      </p:sp>
      <p:sp>
        <p:nvSpPr>
          <p:cNvPr id="11" name="Text 2"/>
          <p:cNvSpPr/>
          <p:nvPr/>
        </p:nvSpPr>
        <p:spPr>
          <a:xfrm>
            <a:off x="233923" y="1639519"/>
            <a:ext cx="2850185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spc="72" kern="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Shows how many grid cells each algorithm explores before finding path solution.</a:t>
            </a:r>
            <a:endParaRPr lang="en-US" sz="1440" dirty="0"/>
          </a:p>
        </p:txBody>
      </p:sp>
      <p:sp>
        <p:nvSpPr>
          <p:cNvPr id="12" name="Text 3"/>
          <p:cNvSpPr/>
          <p:nvPr/>
        </p:nvSpPr>
        <p:spPr>
          <a:xfrm>
            <a:off x="498703" y="3032608"/>
            <a:ext cx="2585405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A* vs Dijkstra</a:t>
            </a:r>
            <a:endParaRPr lang="en-US" sz="1440" dirty="0"/>
          </a:p>
        </p:txBody>
      </p:sp>
      <p:sp>
        <p:nvSpPr>
          <p:cNvPr id="13" name="Text 4"/>
          <p:cNvSpPr/>
          <p:nvPr/>
        </p:nvSpPr>
        <p:spPr>
          <a:xfrm>
            <a:off x="325363" y="3519526"/>
            <a:ext cx="2758745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spc="72" kern="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 expand similar nodes in unweighted grids, with A* slightly more efficient in complex mazes.</a:t>
            </a:r>
            <a:endParaRPr lang="en-US" sz="1440" dirty="0"/>
          </a:p>
        </p:txBody>
      </p:sp>
      <p:sp>
        <p:nvSpPr>
          <p:cNvPr id="14" name="Text 5"/>
          <p:cNvSpPr/>
          <p:nvPr/>
        </p:nvSpPr>
        <p:spPr>
          <a:xfrm>
            <a:off x="6036099" y="1383030"/>
            <a:ext cx="2585009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Greedy's Efficiency</a:t>
            </a:r>
            <a:endParaRPr lang="en-US" sz="1440" dirty="0"/>
          </a:p>
        </p:txBody>
      </p:sp>
      <p:sp>
        <p:nvSpPr>
          <p:cNvPr id="15" name="Text 6"/>
          <p:cNvSpPr/>
          <p:nvPr/>
        </p:nvSpPr>
        <p:spPr>
          <a:xfrm>
            <a:off x="6036099" y="1858975"/>
            <a:ext cx="2802655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spc="72" kern="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Consistently expands fewer nodes using heuristic-only approach, showing significant reduction across all test maps.</a:t>
            </a:r>
            <a:endParaRPr lang="en-US" sz="1440" dirty="0"/>
          </a:p>
        </p:txBody>
      </p:sp>
      <p:sp>
        <p:nvSpPr>
          <p:cNvPr id="16" name="Text 7"/>
          <p:cNvSpPr/>
          <p:nvPr/>
        </p:nvSpPr>
        <p:spPr>
          <a:xfrm>
            <a:off x="6031546" y="3252064"/>
            <a:ext cx="258956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BFS Exploration Pattern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6031546" y="3738982"/>
            <a:ext cx="2878531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spc="72" kern="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Expands nodes level-by-level, matching Dijkstra's count in unweighted grids while guaranteeing optimal paths.</a:t>
            </a:r>
            <a:endParaRPr lang="en-US" sz="14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Special Test Cases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39" y="1306072"/>
            <a:ext cx="8922252" cy="1895978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444122" y="1219329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EC9F48"/>
          </a:solidFill>
          <a:ln/>
        </p:spPr>
      </p:sp>
      <p:sp>
        <p:nvSpPr>
          <p:cNvPr id="8" name="Text 2"/>
          <p:cNvSpPr/>
          <p:nvPr/>
        </p:nvSpPr>
        <p:spPr>
          <a:xfrm>
            <a:off x="444122" y="1118849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9" name="Shape 3"/>
          <p:cNvSpPr/>
          <p:nvPr/>
        </p:nvSpPr>
        <p:spPr>
          <a:xfrm>
            <a:off x="1770341" y="3294391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CD9B63"/>
          </a:solidFill>
          <a:ln/>
        </p:spPr>
      </p:sp>
      <p:sp>
        <p:nvSpPr>
          <p:cNvPr id="10" name="Shape 4"/>
          <p:cNvSpPr/>
          <p:nvPr/>
        </p:nvSpPr>
        <p:spPr>
          <a:xfrm>
            <a:off x="3779623" y="1015203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EC9F48"/>
          </a:solidFill>
          <a:ln/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524621" y="1690310"/>
            <a:ext cx="2493292" cy="42050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779623" y="914723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3" name="Shape 6"/>
          <p:cNvSpPr/>
          <p:nvPr/>
        </p:nvSpPr>
        <p:spPr>
          <a:xfrm>
            <a:off x="5604416" y="3020728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CD9B63"/>
          </a:solidFill>
          <a:ln/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-910284" y="1803510"/>
            <a:ext cx="2672235" cy="42050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770341" y="3193911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16" name="Text 8"/>
          <p:cNvSpPr/>
          <p:nvPr/>
        </p:nvSpPr>
        <p:spPr>
          <a:xfrm>
            <a:off x="5613560" y="2929392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4028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4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735766" y="3923167"/>
            <a:ext cx="1831405" cy="389174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743577" y="3732803"/>
            <a:ext cx="1831405" cy="38917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76986" y="1520647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Edge Cases</a:t>
            </a:r>
            <a:endParaRPr lang="en-US" sz="1440" dirty="0"/>
          </a:p>
        </p:txBody>
      </p:sp>
      <p:sp>
        <p:nvSpPr>
          <p:cNvPr id="20" name="Text 10"/>
          <p:cNvSpPr/>
          <p:nvPr/>
        </p:nvSpPr>
        <p:spPr>
          <a:xfrm>
            <a:off x="576870" y="1932592"/>
            <a:ext cx="2958288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Special maps designed to test algorithm weaknesses and highlight performance differences.</a:t>
            </a:r>
            <a:endParaRPr lang="en-US" sz="1440" dirty="0"/>
          </a:p>
        </p:txBody>
      </p:sp>
      <p:sp>
        <p:nvSpPr>
          <p:cNvPr id="21" name="Text 11"/>
          <p:cNvSpPr/>
          <p:nvPr/>
        </p:nvSpPr>
        <p:spPr>
          <a:xfrm>
            <a:off x="1767535" y="3613709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Path Map</a:t>
            </a:r>
            <a:endParaRPr lang="en-US" sz="1440" dirty="0"/>
          </a:p>
        </p:txBody>
      </p:sp>
      <p:sp>
        <p:nvSpPr>
          <p:cNvPr id="22" name="Text 12"/>
          <p:cNvSpPr/>
          <p:nvPr/>
        </p:nvSpPr>
        <p:spPr>
          <a:xfrm>
            <a:off x="1748333" y="4036162"/>
            <a:ext cx="2958084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Tests algorithm robustness when goal is unreachable, all correctly report "no path found."</a:t>
            </a:r>
            <a:endParaRPr lang="en-US" sz="1440" dirty="0"/>
          </a:p>
        </p:txBody>
      </p:sp>
      <p:sp>
        <p:nvSpPr>
          <p:cNvPr id="23" name="Text 13"/>
          <p:cNvSpPr/>
          <p:nvPr/>
        </p:nvSpPr>
        <p:spPr>
          <a:xfrm>
            <a:off x="3902659" y="1311250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Greedy Trap Map</a:t>
            </a:r>
            <a:endParaRPr lang="en-US" sz="1440" dirty="0"/>
          </a:p>
        </p:txBody>
      </p:sp>
      <p:sp>
        <p:nvSpPr>
          <p:cNvPr id="24" name="Text 14"/>
          <p:cNvSpPr/>
          <p:nvPr/>
        </p:nvSpPr>
        <p:spPr>
          <a:xfrm>
            <a:off x="3902646" y="1722730"/>
            <a:ext cx="2958084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Demonstrates how Greedy can be misled by heuristics while A* finds optimal solution.</a:t>
            </a:r>
            <a:endParaRPr lang="en-US" sz="1440" dirty="0"/>
          </a:p>
        </p:txBody>
      </p:sp>
      <p:sp>
        <p:nvSpPr>
          <p:cNvPr id="25" name="Text 15"/>
          <p:cNvSpPr/>
          <p:nvPr/>
        </p:nvSpPr>
        <p:spPr>
          <a:xfrm>
            <a:off x="5773522" y="3395167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DFS Deep Trap</a:t>
            </a:r>
            <a:endParaRPr lang="en-US" sz="1440" dirty="0"/>
          </a:p>
        </p:txBody>
      </p:sp>
      <p:sp>
        <p:nvSpPr>
          <p:cNvPr id="26" name="Text 16"/>
          <p:cNvSpPr/>
          <p:nvPr/>
        </p:nvSpPr>
        <p:spPr>
          <a:xfrm>
            <a:off x="5773740" y="3813048"/>
            <a:ext cx="2958084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Shows DFS inefficiency with cost=32 versus BFS cost=14 in specially designed maze.</a:t>
            </a:r>
            <a:endParaRPr lang="en-US" sz="14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639" y="9158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Team Members Workload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" y="288182"/>
            <a:ext cx="182880" cy="182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79" y="288182"/>
            <a:ext cx="182880" cy="182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9" y="288182"/>
            <a:ext cx="182880" cy="1828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58693" y="93911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Leader and Core Integration</a:t>
            </a:r>
            <a:endParaRPr lang="en-US" sz="1440" dirty="0"/>
          </a:p>
        </p:txBody>
      </p:sp>
      <p:sp>
        <p:nvSpPr>
          <p:cNvPr id="7" name="Text 2"/>
          <p:cNvSpPr/>
          <p:nvPr/>
        </p:nvSpPr>
        <p:spPr>
          <a:xfrm>
            <a:off x="253537" y="1370708"/>
            <a:ext cx="2838893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Adham Sobhy manages GUI architecture, A* algorithm, final merge and quality assurance.</a:t>
            </a:r>
            <a:endParaRPr lang="en-US" sz="1440" dirty="0"/>
          </a:p>
        </p:txBody>
      </p:sp>
      <p:sp>
        <p:nvSpPr>
          <p:cNvPr id="8" name="Text 3"/>
          <p:cNvSpPr/>
          <p:nvPr/>
        </p:nvSpPr>
        <p:spPr>
          <a:xfrm>
            <a:off x="6002866" y="939111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Algorithm Specialists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6002866" y="1370686"/>
            <a:ext cx="286973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Yassin handles Dijkstra and validation, while Belal implements BFS/DFS algorithms with demonstration maps.</a:t>
            </a:r>
            <a:endParaRPr lang="en-US" sz="1440" dirty="0"/>
          </a:p>
        </p:txBody>
      </p:sp>
      <p:sp>
        <p:nvSpPr>
          <p:cNvPr id="10" name="Text 5"/>
          <p:cNvSpPr/>
          <p:nvPr/>
        </p:nvSpPr>
        <p:spPr>
          <a:xfrm>
            <a:off x="258693" y="317116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	Improve GUI usability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253537" y="3595443"/>
            <a:ext cx="283889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Andrew focuses on interface polish and Greedy heuristic vs A*.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6002866" y="3171139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Documentation and Analysis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6002866" y="3595443"/>
            <a:ext cx="286973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Ahmed manages packaging and instructions, while Mohamed handles performance analysis and presentation development.</a:t>
            </a:r>
            <a:endParaRPr lang="en-US" sz="14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5396" y="1666794"/>
            <a:ext cx="4313208" cy="1143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5040" b="1" dirty="0">
                <a:solidFill>
                  <a:srgbClr val="EC9F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Thanks！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2025-12-23T10:34:56Z</dcterms:created>
  <dcterms:modified xsi:type="dcterms:W3CDTF">2025-12-23T10:34:56Z</dcterms:modified>
</cp:coreProperties>
</file>